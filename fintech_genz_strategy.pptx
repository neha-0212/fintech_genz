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634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499757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75D84D-AB9C-B3E2-F44A-7339FBA26D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C5F23A5-81C4-1D96-3737-E147E54D924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5EB4930-343C-7448-EC60-5F9467DD7F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213807-498F-9E1A-1406-960E2713770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04145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3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0" y="0"/>
            <a:ext cx="2560320" cy="5143500"/>
          </a:xfrm>
          <a:prstGeom prst="rect">
            <a:avLst/>
          </a:prstGeom>
          <a:solidFill>
            <a:srgbClr val="0D3461"/>
          </a:solidFill>
          <a:ln w="12700">
            <a:solidFill>
              <a:srgbClr val="0D346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0" y="1097280"/>
            <a:ext cx="1463040" cy="2926080"/>
          </a:xfrm>
          <a:prstGeom prst="rect">
            <a:avLst/>
          </a:prstGeom>
          <a:solidFill>
            <a:srgbClr val="028090">
              <a:alpha val="40000"/>
            </a:srgbClr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731520"/>
            <a:ext cx="5852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 Z Digital Banking Strategy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150876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Analytics + Decision System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" y="1965960"/>
            <a:ext cx="5029200" cy="0"/>
          </a:xfrm>
          <a:prstGeom prst="line">
            <a:avLst/>
          </a:prstGeom>
          <a:noFill/>
          <a:ln w="19050">
            <a:solidFill>
              <a:srgbClr val="F9A62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8140" y="2080260"/>
            <a:ext cx="632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 Gen Z Onboarding Conversion  |  Reduce Default &amp; Fraud Risk  |  Maximize Profitability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02920" y="420624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Dataset: 1,000 Customers  ·  14 Variables  ·  3 Channels  ·  3 Occupation Types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02920" y="452628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By: Neha Kanaki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1097280" cy="457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914400"/>
            <a:ext cx="2651760" cy="32004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914400"/>
            <a:ext cx="2651760" cy="64008"/>
          </a:xfrm>
          <a:prstGeom prst="rect">
            <a:avLst/>
          </a:prstGeom>
          <a:solidFill>
            <a:srgbClr val="E84855"/>
          </a:solidFill>
          <a:ln w="12700">
            <a:solidFill>
              <a:srgbClr val="E8485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024128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E848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02920" y="15087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 Z Onboarding Gap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02920" y="1787653"/>
            <a:ext cx="2377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 Z (age ≤24) converts at only 46.7% — 20 percentage points below older cohorts. KYC and OTP steps are the primary friction points.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200400" y="914400"/>
            <a:ext cx="2651760" cy="32004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00400" y="914400"/>
            <a:ext cx="2651760" cy="64008"/>
          </a:xfrm>
          <a:prstGeom prst="rect">
            <a:avLst/>
          </a:prstGeom>
          <a:solidFill>
            <a:srgbClr val="F9A620"/>
          </a:solidFill>
          <a:ln w="12700">
            <a:solidFill>
              <a:srgbClr val="F9A62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91840" y="1024128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9A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3337560" y="15087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Unchecked Default Risk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337560" y="1787653"/>
            <a:ext cx="2377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19.1% of the customer base has defaulted. Income and transaction behavior show near-zero correlation with default — current proxies are wrong.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035040" y="914400"/>
            <a:ext cx="2651760" cy="32004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035040" y="914400"/>
            <a:ext cx="2651760" cy="6400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26480" y="1024128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6172200" y="15087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Profitability Framework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172200" y="1787653"/>
            <a:ext cx="2377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and loss are not systematically modeled per customer. High-value segments are not distinguished from high-risk ones in current operations.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65760" y="42519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three gaps together = lost revenue, misallocated risk capital, and poor Gen Z retention.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23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Gen Z Is a Strategic Priority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1097280" cy="457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960120"/>
            <a:ext cx="1965960" cy="1828800"/>
          </a:xfrm>
          <a:prstGeom prst="rect">
            <a:avLst/>
          </a:prstGeom>
          <a:solidFill>
            <a:srgbClr val="0D2D4E"/>
          </a:solidFill>
          <a:ln w="6350">
            <a:solidFill>
              <a:srgbClr val="02809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7200" y="105156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336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 Z Customers</a:t>
            </a:r>
            <a:endParaRPr lang="en-US" sz="1200" dirty="0"/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Dataset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2377440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33.6% of base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514600" y="960120"/>
            <a:ext cx="1965960" cy="1828800"/>
          </a:xfrm>
          <a:prstGeom prst="rect">
            <a:avLst/>
          </a:prstGeom>
          <a:solidFill>
            <a:srgbClr val="0D2D4E"/>
          </a:solidFill>
          <a:ln w="6350">
            <a:solidFill>
              <a:srgbClr val="02809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606040" y="105156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9A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₹226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2606040" y="169164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Net Value</a:t>
            </a:r>
            <a:endParaRPr lang="en-US" sz="1200" dirty="0"/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(Gen Z active)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606040" y="2377440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9A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+14% vs others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663440" y="960120"/>
            <a:ext cx="1965960" cy="1828800"/>
          </a:xfrm>
          <a:prstGeom prst="rect">
            <a:avLst/>
          </a:prstGeom>
          <a:solidFill>
            <a:srgbClr val="0D2D4E"/>
          </a:solidFill>
          <a:ln w="6350">
            <a:solidFill>
              <a:srgbClr val="02809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754880" y="105156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E848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46.7%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4754880" y="169164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 Z Conversion</a:t>
            </a:r>
            <a:endParaRPr lang="en-US" sz="1200" dirty="0"/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Today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754880" y="2377440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848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20pp gap to close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812280" y="960120"/>
            <a:ext cx="1965960" cy="1828800"/>
          </a:xfrm>
          <a:prstGeom prst="rect">
            <a:avLst/>
          </a:prstGeom>
          <a:solidFill>
            <a:srgbClr val="0D2D4E"/>
          </a:solidFill>
          <a:ln w="6350">
            <a:solidFill>
              <a:srgbClr val="02809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903720" y="105156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~90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6903720" y="169164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 Conversions</a:t>
            </a:r>
            <a:endParaRPr lang="en-US" sz="1200" dirty="0"/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gap closed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903720" y="2377440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immediate uplift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65760" y="306324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 Z actively converted users generate MORE net value than any other segment.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365760" y="342900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conversion problem is a UX/friction problem — not a product-market fit problem.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57200" y="3566160"/>
            <a:ext cx="8229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 Z will represent 27% of the global workforce by 2025 — early acquisition = lifetime value</a:t>
            </a:r>
            <a:endParaRPr lang="en-US" sz="14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Digital-native expectations: they abandon flows in &lt;2 minutes. Every extra KYC field costs conversions.</a:t>
            </a:r>
            <a:endParaRPr lang="en-US" sz="14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Referral behavior: Gen Z refers 3x more when satisfied — fixing onboarding creates a viral loop.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Strategic Questions This Analysis Answers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1097280" cy="457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960120"/>
            <a:ext cx="841248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960120"/>
            <a:ext cx="64008" cy="8229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05156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05840" y="1033272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does Gen Z drop off in onboarding?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212080" y="103327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KYC &amp; OTP steps — friction, not intent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005840" y="1389888"/>
            <a:ext cx="758952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1005840" y="143560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Pre-Answer</a:t>
            </a:r>
            <a:endParaRPr lang="en-US" sz="700" dirty="0"/>
          </a:p>
        </p:txBody>
      </p:sp>
      <p:sp>
        <p:nvSpPr>
          <p:cNvPr id="11" name="Shape 9"/>
          <p:cNvSpPr/>
          <p:nvPr/>
        </p:nvSpPr>
        <p:spPr>
          <a:xfrm>
            <a:off x="365760" y="1920240"/>
            <a:ext cx="841248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920240"/>
            <a:ext cx="64008" cy="822960"/>
          </a:xfrm>
          <a:prstGeom prst="rect">
            <a:avLst/>
          </a:prstGeom>
          <a:solidFill>
            <a:srgbClr val="E84855"/>
          </a:solidFill>
          <a:ln w="12700">
            <a:solidFill>
              <a:srgbClr val="E8485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01168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48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05840" y="1993392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actually predicts customer default?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212080" y="199339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848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Credit score only (corr=-0.69); income is not predictive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1005840" y="2350008"/>
            <a:ext cx="758952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005840" y="239572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Pre-Answer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365760" y="2880360"/>
            <a:ext cx="841248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65760" y="2880360"/>
            <a:ext cx="64008" cy="822960"/>
          </a:xfrm>
          <a:prstGeom prst="rect">
            <a:avLst/>
          </a:prstGeom>
          <a:solidFill>
            <a:srgbClr val="F9A620"/>
          </a:solidFill>
          <a:ln w="12700">
            <a:solidFill>
              <a:srgbClr val="F9A62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2920" y="29718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9A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005840" y="2953512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channel delivers the highest ROI?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212080" y="295351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9A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Referral: 62% conv rate + highest net value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005840" y="3310128"/>
            <a:ext cx="758952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dash"/>
          </a:ln>
        </p:spPr>
      </p:sp>
      <p:sp>
        <p:nvSpPr>
          <p:cNvPr id="24" name="Text 22"/>
          <p:cNvSpPr/>
          <p:nvPr/>
        </p:nvSpPr>
        <p:spPr>
          <a:xfrm>
            <a:off x="1005840" y="335584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Pre-Answer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365760" y="3840480"/>
            <a:ext cx="841248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65760" y="3840480"/>
            <a:ext cx="64008" cy="82296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02920" y="393192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005840" y="3913632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should we set the approval threshold?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212080" y="391363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Credit score ≥ 650: best risk-revenue balance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1005840" y="4270248"/>
            <a:ext cx="758952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005840" y="431596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Pre-Answer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Overview — 1,000 Customers, 14 Variables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1097280" cy="457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Normalized Database Schema (4 tables)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234440"/>
            <a:ext cx="411480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1234440"/>
            <a:ext cx="64008" cy="71323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289304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1545336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customer_id, age, income, occupation, region, channel, signup_date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365760" y="2039112"/>
            <a:ext cx="411480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65760" y="2039112"/>
            <a:ext cx="64008" cy="71323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2093976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onboarding_events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02920" y="2350008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onboarding_step, onboarding_status, conversion_flag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365760" y="2843784"/>
            <a:ext cx="411480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65760" y="2843784"/>
            <a:ext cx="64008" cy="71323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2898648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" y="315468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transaction_count, avg_transaction_value, intensity, volume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365760" y="3648456"/>
            <a:ext cx="411480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65760" y="3648456"/>
            <a:ext cx="64008" cy="71323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" y="3703320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risk_profile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02920" y="395935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credit_score, risk_band, default_flag, fraud_flag, net_value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4754880" y="9144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Snapshot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754880" y="1234440"/>
            <a:ext cx="182880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846320" y="1289304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1,000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4846320" y="1636776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Customers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754880" y="2011680"/>
            <a:ext cx="182880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846320" y="2066544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4846320" y="2414016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Values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4754880" y="2788920"/>
            <a:ext cx="182880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846320" y="2843784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20–34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4846320" y="3191256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Range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754880" y="3566160"/>
            <a:ext cx="182880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4846320" y="3621024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9A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types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4846320" y="3968496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Occupations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6720840" y="1234440"/>
            <a:ext cx="182880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812280" y="1289304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9A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types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6812280" y="1636776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Acquisition Channels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6720840" y="2011680"/>
            <a:ext cx="182880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6812280" y="2066544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Tier1 + Tier2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6812280" y="2414016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6720840" y="2788920"/>
            <a:ext cx="182880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6812280" y="2843784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800" dirty="0"/>
          </a:p>
        </p:txBody>
      </p:sp>
      <p:sp>
        <p:nvSpPr>
          <p:cNvPr id="42" name="Text 40"/>
          <p:cNvSpPr/>
          <p:nvPr/>
        </p:nvSpPr>
        <p:spPr>
          <a:xfrm>
            <a:off x="6812280" y="3191256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Derived Features Built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6720840" y="3566160"/>
            <a:ext cx="182880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6812280" y="3621024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8+</a:t>
            </a:r>
            <a:endParaRPr lang="en-US" sz="1800" dirty="0"/>
          </a:p>
        </p:txBody>
      </p:sp>
      <p:sp>
        <p:nvSpPr>
          <p:cNvPr id="45" name="Text 43"/>
          <p:cNvSpPr/>
          <p:nvPr/>
        </p:nvSpPr>
        <p:spPr>
          <a:xfrm>
            <a:off x="6812280" y="3968496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Queries Delivered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Funnel Analysis — Where Customers Drop Off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1097280" cy="457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6012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 Rate by Onboarding Step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65760" y="12801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Completed Step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65760" y="1572768"/>
            <a:ext cx="4114800" cy="411480"/>
          </a:xfrm>
          <a:prstGeom prst="rect">
            <a:avLst/>
          </a:prstGeom>
          <a:solidFill>
            <a:srgbClr val="CBD5E1">
              <a:alpha val="50000"/>
            </a:srgbClr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1572768"/>
            <a:ext cx="2472995" cy="41148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930195" y="1618488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60.1%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65760" y="202996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E848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399 dropped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23317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OTP Verification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65760" y="2624328"/>
            <a:ext cx="4114800" cy="411480"/>
          </a:xfrm>
          <a:prstGeom prst="rect">
            <a:avLst/>
          </a:prstGeom>
          <a:solidFill>
            <a:srgbClr val="CBD5E1">
              <a:alpha val="50000"/>
            </a:srgbClr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5760" y="2624328"/>
            <a:ext cx="2304288" cy="41148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761488" y="2670048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56%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65760" y="30815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E848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147 dropped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365760" y="33832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KYC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5760" y="3675888"/>
            <a:ext cx="4114800" cy="411480"/>
          </a:xfrm>
          <a:prstGeom prst="rect">
            <a:avLst/>
          </a:prstGeom>
          <a:solidFill>
            <a:srgbClr val="CBD5E1">
              <a:alpha val="50000"/>
            </a:srgbClr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65760" y="3675888"/>
            <a:ext cx="1991563" cy="411480"/>
          </a:xfrm>
          <a:prstGeom prst="rect">
            <a:avLst/>
          </a:prstGeom>
          <a:solidFill>
            <a:srgbClr val="E84855"/>
          </a:solidFill>
          <a:ln w="12700">
            <a:solidFill>
              <a:srgbClr val="E8485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448763" y="3721608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848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48.4%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65760" y="413308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E848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214 dropped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5029200" y="914400"/>
            <a:ext cx="3749040" cy="36576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166360" y="102412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 Z vs Non-Gen Z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166360" y="141732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 Z (≤24)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166360" y="1691640"/>
            <a:ext cx="2926080" cy="347472"/>
          </a:xfrm>
          <a:prstGeom prst="rect">
            <a:avLst/>
          </a:prstGeom>
          <a:solidFill>
            <a:srgbClr val="CBD5E1">
              <a:alpha val="40000"/>
            </a:srgbClr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166360" y="1691640"/>
            <a:ext cx="1366479" cy="347472"/>
          </a:xfrm>
          <a:prstGeom prst="rect">
            <a:avLst/>
          </a:prstGeom>
          <a:solidFill>
            <a:srgbClr val="E84855"/>
          </a:solidFill>
          <a:ln w="12700">
            <a:solidFill>
              <a:srgbClr val="E8485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624279" y="17190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48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46.7%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166360" y="228600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Young Millennial (25-29)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166360" y="2560320"/>
            <a:ext cx="2926080" cy="347472"/>
          </a:xfrm>
          <a:prstGeom prst="rect">
            <a:avLst/>
          </a:prstGeom>
          <a:solidFill>
            <a:srgbClr val="CBD5E1">
              <a:alpha val="40000"/>
            </a:srgbClr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166360" y="2560320"/>
            <a:ext cx="1858061" cy="34747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15861" y="25877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63.5%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166360" y="315468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Millennial (30-34)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5166360" y="3429000"/>
            <a:ext cx="2926080" cy="347472"/>
          </a:xfrm>
          <a:prstGeom prst="rect">
            <a:avLst/>
          </a:prstGeom>
          <a:solidFill>
            <a:srgbClr val="CBD5E1">
              <a:alpha val="40000"/>
            </a:srgbClr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166360" y="3429000"/>
            <a:ext cx="1995587" cy="34747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253387" y="345643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68.2%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5029200" y="4005072"/>
            <a:ext cx="3749040" cy="475488"/>
          </a:xfrm>
          <a:prstGeom prst="rect">
            <a:avLst/>
          </a:prstGeom>
          <a:solidFill>
            <a:srgbClr val="FFF3F4"/>
          </a:solidFill>
          <a:ln w="6350">
            <a:solidFill>
              <a:srgbClr val="E8485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120640" y="40690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848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Gen Z has a 20pp conversion gap. Root cause: KYC + OTP friction — not intent.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Segmentation — Value vs Risk Matrix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1097280" cy="457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5603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Low Net Value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7132320" y="25603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Net Value →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65760" y="960120"/>
            <a:ext cx="4023360" cy="1554480"/>
          </a:xfrm>
          <a:prstGeom prst="rect">
            <a:avLst/>
          </a:prstGeom>
          <a:solidFill>
            <a:srgbClr val="FFF8E1"/>
          </a:solidFill>
          <a:ln w="19050">
            <a:solidFill>
              <a:srgbClr val="F9A62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051560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Watch — Low Value, High Risk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1399032"/>
            <a:ext cx="3794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Salaried Millennials: 21.3% default rate.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income proxy, poor credit behavior.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663440" y="960120"/>
            <a:ext cx="4114800" cy="1554480"/>
          </a:xfrm>
          <a:prstGeom prst="rect">
            <a:avLst/>
          </a:prstGeom>
          <a:solidFill>
            <a:srgbClr val="E8FFF5"/>
          </a:solidFill>
          <a:ln w="19050">
            <a:solidFill>
              <a:srgbClr val="02C39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00600" y="1051560"/>
            <a:ext cx="3886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🌟  Stars — High Value, Low Risk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800600" y="1399032"/>
            <a:ext cx="3886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 Z Freelancers: highest net value (₹226)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manageable risk. Priority acquisition.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65760" y="2606040"/>
            <a:ext cx="4023360" cy="1645920"/>
          </a:xfrm>
          <a:prstGeom prst="rect">
            <a:avLst/>
          </a:prstGeom>
          <a:solidFill>
            <a:srgbClr val="FFECEC"/>
          </a:solidFill>
          <a:ln w="19050">
            <a:solidFill>
              <a:srgbClr val="E8485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697480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🚫  Exit — Low Value, High Risk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02920" y="3044952"/>
            <a:ext cx="3794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via Ads channel: low conversion,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friction, low transaction volume.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663440" y="2606040"/>
            <a:ext cx="4114800" cy="1645920"/>
          </a:xfrm>
          <a:prstGeom prst="rect">
            <a:avLst/>
          </a:prstGeom>
          <a:solidFill>
            <a:srgbClr val="E8F4FF"/>
          </a:solidFill>
          <a:ln w="19050">
            <a:solidFill>
              <a:srgbClr val="02809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00600" y="2697480"/>
            <a:ext cx="3886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📈  Grow — High Value, Low Risk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800600" y="3044952"/>
            <a:ext cx="3886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Young Millennial Freelancers: best balanced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segment. Scale via Referral channel.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343400" y="960120"/>
            <a:ext cx="0" cy="3291840"/>
          </a:xfrm>
          <a:prstGeom prst="line">
            <a:avLst/>
          </a:prstGeom>
          <a:noFill/>
          <a:ln w="12700">
            <a:solidFill>
              <a:srgbClr val="CBD5E1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365760" y="2514600"/>
            <a:ext cx="84124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dash"/>
          </a:ln>
        </p:spPr>
      </p:sp>
      <p:sp>
        <p:nvSpPr>
          <p:cNvPr id="20" name="Text 18"/>
          <p:cNvSpPr/>
          <p:nvPr/>
        </p:nvSpPr>
        <p:spPr>
          <a:xfrm>
            <a:off x="365760" y="434340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Low Risk  |  High Risk →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Analysis — What Actually Drives Default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1097280" cy="457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 with Default Flag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261872"/>
            <a:ext cx="411480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02920" y="131673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Score → Default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337560" y="1298448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848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-0.687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02920" y="1627632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E848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— Negative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365760" y="2011680"/>
            <a:ext cx="411480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02920" y="206654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Income → Default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337560" y="2048256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+0.021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02920" y="2377440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— Near Zero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365760" y="2761488"/>
            <a:ext cx="411480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02920" y="281635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→ Default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337560" y="2798064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+0.015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02920" y="3127248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— Near Zero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365760" y="3511296"/>
            <a:ext cx="411480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02920" y="356616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Tx Count → Default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337560" y="3547872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+0.008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502920" y="3877056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— Near Zero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4754880" y="91440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Rate by Risk Band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754880" y="126187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Band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766560" y="12618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7315200" y="126187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Default%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7955280" y="12618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NV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754880" y="1536192"/>
            <a:ext cx="402336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754880" y="1572768"/>
            <a:ext cx="109728" cy="530352"/>
          </a:xfrm>
          <a:prstGeom prst="rect">
            <a:avLst/>
          </a:prstGeom>
          <a:solidFill>
            <a:srgbClr val="E84855"/>
          </a:solidFill>
          <a:ln w="12700">
            <a:solidFill>
              <a:srgbClr val="E8485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919472" y="16459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Risk   (&lt;550)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766560" y="16459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7315200" y="16459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848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60.0%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7955280" y="16459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848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-₹152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754880" y="2231136"/>
            <a:ext cx="109728" cy="530352"/>
          </a:xfrm>
          <a:prstGeom prst="rect">
            <a:avLst/>
          </a:prstGeom>
          <a:solidFill>
            <a:srgbClr val="F9A620"/>
          </a:solidFill>
          <a:ln w="12700">
            <a:solidFill>
              <a:srgbClr val="F9A62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919472" y="23042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 Risk (550-650)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766560" y="23042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394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7315200" y="230428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9A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26.1%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955280" y="230428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9A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₹78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754880" y="2889504"/>
            <a:ext cx="109728" cy="53035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919472" y="296265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Risk    (650-750)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766560" y="296265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411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315200" y="2962656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11.9%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7955280" y="296265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₹234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754880" y="3547872"/>
            <a:ext cx="109728" cy="5303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919472" y="362102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Low    (&gt;750)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766560" y="362102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190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7315200" y="3621024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0.5%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7955280" y="362102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₹387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 Takeaway: Credit score is the ONLY reliable default predictor.</a:t>
            </a:r>
            <a:endParaRPr lang="en-US" sz="900" dirty="0"/>
          </a:p>
          <a:p>
            <a:pPr marL="0" indent="0">
              <a:buNone/>
            </a:pPr>
            <a:r>
              <a:rPr lang="en-US" sz="9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Income-based underwriting adds noise, not signal.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23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Tradeoff Engine — The Core Decision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1097280" cy="457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914400"/>
            <a:ext cx="2743200" cy="3749040"/>
          </a:xfrm>
          <a:prstGeom prst="rect">
            <a:avLst/>
          </a:prstGeom>
          <a:solidFill>
            <a:srgbClr val="0A2342"/>
          </a:solidFill>
          <a:ln w="6350">
            <a:solidFill>
              <a:srgbClr val="64748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0058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848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AGGRESSIVE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40817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Score ≥ 550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2377440" cy="0"/>
          </a:xfrm>
          <a:prstGeom prst="line">
            <a:avLst/>
          </a:prstGeom>
          <a:noFill/>
          <a:ln w="6350">
            <a:solidFill>
              <a:srgbClr val="64748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87452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 Rate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7200" y="2130552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848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98%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57200" y="265176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Rate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57200" y="2907792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848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19.5%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57200" y="342900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Net Value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57200" y="3685032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848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₹199K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3246120" y="914400"/>
            <a:ext cx="2743200" cy="3749040"/>
          </a:xfrm>
          <a:prstGeom prst="rect">
            <a:avLst/>
          </a:prstGeom>
          <a:solidFill>
            <a:srgbClr val="0D3461"/>
          </a:solidFill>
          <a:ln w="25400">
            <a:solidFill>
              <a:srgbClr val="02C39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46120" y="914400"/>
            <a:ext cx="2743200" cy="32004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337560" y="93268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RECOMMENDED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337560" y="1298448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337560" y="170078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Score ≥ 650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429000" y="2029968"/>
            <a:ext cx="2377440" cy="0"/>
          </a:xfrm>
          <a:prstGeom prst="line">
            <a:avLst/>
          </a:prstGeom>
          <a:noFill/>
          <a:ln w="6350">
            <a:solidFill>
              <a:srgbClr val="64748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337560" y="216712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 Rate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337560" y="242316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75%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3337560" y="294436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Rate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337560" y="320040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12.2%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3337560" y="372160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Net Value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337560" y="397764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₹173K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6126480" y="914400"/>
            <a:ext cx="2743200" cy="3749040"/>
          </a:xfrm>
          <a:prstGeom prst="rect">
            <a:avLst/>
          </a:prstGeom>
          <a:solidFill>
            <a:srgbClr val="0A2342"/>
          </a:solidFill>
          <a:ln w="6350">
            <a:solidFill>
              <a:srgbClr val="64748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17920" y="10058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9A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CONSERVATIVE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217920" y="140817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Score ≥ 750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309360" y="1737360"/>
            <a:ext cx="2377440" cy="0"/>
          </a:xfrm>
          <a:prstGeom prst="line">
            <a:avLst/>
          </a:prstGeom>
          <a:noFill/>
          <a:ln w="6350">
            <a:solidFill>
              <a:srgbClr val="64748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217920" y="187452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 Rate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6217920" y="2130552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9A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6217920" y="265176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Rate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217920" y="2907792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9A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0.5%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6217920" y="342900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Net Value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217920" y="3685032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9A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₹110K</a:t>
            </a:r>
            <a:endParaRPr lang="en-US" sz="2000" dirty="0"/>
          </a:p>
        </p:txBody>
      </p:sp>
      <p:sp>
        <p:nvSpPr>
          <p:cNvPr id="36" name="Text 34"/>
          <p:cNvSpPr/>
          <p:nvPr/>
        </p:nvSpPr>
        <p:spPr>
          <a:xfrm>
            <a:off x="365760" y="480060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 threshold (650) captures 75% of customers, keeps default at 12%, and maximises net value.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Insights — Quantified &amp; Decision-Ready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1097280" cy="457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960120"/>
            <a:ext cx="4206240" cy="111556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960120"/>
            <a:ext cx="64008" cy="1115568"/>
          </a:xfrm>
          <a:prstGeom prst="rect">
            <a:avLst/>
          </a:prstGeom>
          <a:solidFill>
            <a:srgbClr val="E84855"/>
          </a:solidFill>
          <a:ln w="12700">
            <a:solidFill>
              <a:srgbClr val="E8485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01498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48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68680" y="1014984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 Z has a 20pp conversion gap at KYC/OTP steps.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502920" y="155448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848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46.7% → 66%+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02920" y="1828800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potential if fixed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4846320" y="960120"/>
            <a:ext cx="4206240" cy="111556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846320" y="960120"/>
            <a:ext cx="64008" cy="111556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83480" y="101498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349240" y="1014984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score is the only reliable default predictor (corr=-0.69).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983480" y="155448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-0.69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4983480" y="1828800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365760" y="2221992"/>
            <a:ext cx="4206240" cy="111556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221992"/>
            <a:ext cx="64008" cy="1115568"/>
          </a:xfrm>
          <a:prstGeom prst="rect">
            <a:avLst/>
          </a:prstGeom>
          <a:solidFill>
            <a:srgbClr val="F9A620"/>
          </a:solidFill>
          <a:ln w="12700">
            <a:solidFill>
              <a:srgbClr val="F9A62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2920" y="227685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9A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68680" y="2276856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Referral is the best channel: 62% conv + highest net value.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02920" y="281635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9A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62%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502920" y="3090672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 rate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4846320" y="2221992"/>
            <a:ext cx="4206240" cy="111556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846320" y="2221992"/>
            <a:ext cx="64008" cy="111556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983480" y="227685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349240" y="2276856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Gen Z users generate ₹226 avg net value — 14% above average.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983480" y="281635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₹226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4983480" y="3090672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net value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365760" y="3483864"/>
            <a:ext cx="4206240" cy="111556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365760" y="3483864"/>
            <a:ext cx="64008" cy="111556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02920" y="35387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868680" y="3538728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 at CS≥650 maximises net value with 12% default rate.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02920" y="4078224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75%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502920" y="4352544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 at ≥650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4846320" y="3483864"/>
            <a:ext cx="4206240" cy="111556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4846320" y="3483864"/>
            <a:ext cx="64008" cy="1115568"/>
          </a:xfrm>
          <a:prstGeom prst="rect">
            <a:avLst/>
          </a:prstGeom>
          <a:solidFill>
            <a:srgbClr val="E84855"/>
          </a:solidFill>
          <a:ln w="12700">
            <a:solidFill>
              <a:srgbClr val="E8485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983480" y="35387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48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349240" y="3538728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Salaried segment has highest default rate (21.3%) despite highest income.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4983480" y="4078224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848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21.3%</a:t>
            </a:r>
            <a:endParaRPr lang="en-US" sz="2000" dirty="0"/>
          </a:p>
        </p:txBody>
      </p:sp>
      <p:sp>
        <p:nvSpPr>
          <p:cNvPr id="39" name="Text 37"/>
          <p:cNvSpPr/>
          <p:nvPr/>
        </p:nvSpPr>
        <p:spPr>
          <a:xfrm>
            <a:off x="4983480" y="4352544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Salaried default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Recommendations — Product · Risk · Growth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1097280" cy="457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960120"/>
            <a:ext cx="2743200" cy="384048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960120"/>
            <a:ext cx="2743200" cy="34747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75488" y="1005840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98348" y="1261872"/>
            <a:ext cx="2560320" cy="30708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Streamline KYC: reduce fields, add progress bar, enable DigiLocker auto-fill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OTP fallback: offer WhatsApp OTP as alternative to SMS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 Z UX audit: A/B test dark mode, gamified onboarding, instant gratification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46120" y="960120"/>
            <a:ext cx="2743200" cy="384048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46120" y="960120"/>
            <a:ext cx="2743200" cy="347472"/>
          </a:xfrm>
          <a:prstGeom prst="rect">
            <a:avLst/>
          </a:prstGeom>
          <a:solidFill>
            <a:srgbClr val="E84855"/>
          </a:solidFill>
          <a:ln w="12700">
            <a:solidFill>
              <a:srgbClr val="E8485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55848" y="1005840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413760" y="1417320"/>
            <a:ext cx="2502408" cy="2766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credit score ≥ 650 as primary approval gate (not income)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 High Risk band (CS &lt; 550) for manual review before activation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90-day early warning system: credit score drop alert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26480" y="960120"/>
            <a:ext cx="2743200" cy="384048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126480" y="960120"/>
            <a:ext cx="2743200" cy="347472"/>
          </a:xfrm>
          <a:prstGeom prst="rect">
            <a:avLst/>
          </a:prstGeom>
          <a:solidFill>
            <a:srgbClr val="F9A620"/>
          </a:solidFill>
          <a:ln w="12700">
            <a:solidFill>
              <a:srgbClr val="F9A62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36208" y="1005840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236208" y="1417320"/>
            <a:ext cx="2560320" cy="30708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down on Referral: introduce cashback for successful friend referrals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Ads spend by 30%; reallocate to Referral incentives + Organic SEO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Tier2 city push: Freelancer + Tier2 shows compelling risk-return profile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23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Impact — If Recommendations Adopted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1097280" cy="457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914400"/>
            <a:ext cx="1965960" cy="2286000"/>
          </a:xfrm>
          <a:prstGeom prst="rect">
            <a:avLst/>
          </a:prstGeom>
          <a:solidFill>
            <a:srgbClr val="0D2D4E"/>
          </a:solidFill>
          <a:ln w="12700">
            <a:solidFill>
              <a:srgbClr val="02C39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7200" y="100584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+90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457200" y="178308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Additional Converted Customers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" y="2267712"/>
            <a:ext cx="1691640" cy="0"/>
          </a:xfrm>
          <a:prstGeom prst="line">
            <a:avLst/>
          </a:prstGeom>
          <a:noFill/>
          <a:ln w="6350">
            <a:solidFill>
              <a:srgbClr val="02C39A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457200" y="233172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closing Gen Z conv gap from 47% → 67%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514600" y="914400"/>
            <a:ext cx="1965960" cy="2286000"/>
          </a:xfrm>
          <a:prstGeom prst="rect">
            <a:avLst/>
          </a:prstGeom>
          <a:solidFill>
            <a:srgbClr val="0D2D4E"/>
          </a:solidFill>
          <a:ln w="12700">
            <a:solidFill>
              <a:srgbClr val="F9A62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606040" y="100584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9A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-7pp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2606040" y="178308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Rate Reduction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651760" y="2267712"/>
            <a:ext cx="1691640" cy="0"/>
          </a:xfrm>
          <a:prstGeom prst="line">
            <a:avLst/>
          </a:prstGeom>
          <a:noFill/>
          <a:ln w="6350">
            <a:solidFill>
              <a:srgbClr val="F9A620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2606040" y="233172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CS≥650 gate removes worst risk cohort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63440" y="914400"/>
            <a:ext cx="1965960" cy="2286000"/>
          </a:xfrm>
          <a:prstGeom prst="rect">
            <a:avLst/>
          </a:prstGeom>
          <a:solidFill>
            <a:srgbClr val="0D2D4E"/>
          </a:solidFill>
          <a:ln w="12700">
            <a:solidFill>
              <a:srgbClr val="02809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754880" y="100584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₹27K+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4754880" y="178308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Additional Net Value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800600" y="2267712"/>
            <a:ext cx="1691640" cy="0"/>
          </a:xfrm>
          <a:prstGeom prst="line">
            <a:avLst/>
          </a:prstGeom>
          <a:noFill/>
          <a:ln w="6350">
            <a:solidFill>
              <a:srgbClr val="028090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4754880" y="233172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incremental Gen Z conversions alone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812280" y="914400"/>
            <a:ext cx="1965960" cy="2286000"/>
          </a:xfrm>
          <a:prstGeom prst="rect">
            <a:avLst/>
          </a:prstGeom>
          <a:solidFill>
            <a:srgbClr val="0D2D4E"/>
          </a:solidFill>
          <a:ln w="12700">
            <a:solidFill>
              <a:srgbClr val="02C39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903720" y="100584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2×</a:t>
            </a:r>
            <a:endParaRPr lang="en-US" sz="3200" dirty="0"/>
          </a:p>
        </p:txBody>
      </p:sp>
      <p:sp>
        <p:nvSpPr>
          <p:cNvPr id="21" name="Text 19"/>
          <p:cNvSpPr/>
          <p:nvPr/>
        </p:nvSpPr>
        <p:spPr>
          <a:xfrm>
            <a:off x="6903720" y="178308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Referral Channel ROI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949440" y="2267712"/>
            <a:ext cx="1691640" cy="0"/>
          </a:xfrm>
          <a:prstGeom prst="line">
            <a:avLst/>
          </a:prstGeom>
          <a:noFill/>
          <a:ln w="6350">
            <a:solidFill>
              <a:srgbClr val="02C39A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6903720" y="233172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Reallocating Ads budget to Referral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65760" y="33375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Strategy Impact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65760" y="3657600"/>
            <a:ext cx="2743200" cy="914400"/>
          </a:xfrm>
          <a:prstGeom prst="rect">
            <a:avLst/>
          </a:prstGeom>
          <a:solidFill>
            <a:srgbClr val="0D2D4E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75488" y="3721608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Referral (scale)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75488" y="397764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62% → 68%+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75488" y="425196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referral cashback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246120" y="3657600"/>
            <a:ext cx="2743200" cy="914400"/>
          </a:xfrm>
          <a:prstGeom prst="rect">
            <a:avLst/>
          </a:prstGeom>
          <a:solidFill>
            <a:srgbClr val="0D2D4E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355848" y="3721608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Organic (maintain)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3355848" y="397764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60% → 63%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3355848" y="425196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SEO + content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6126480" y="3657600"/>
            <a:ext cx="2743200" cy="914400"/>
          </a:xfrm>
          <a:prstGeom prst="rect">
            <a:avLst/>
          </a:prstGeom>
          <a:solidFill>
            <a:srgbClr val="0D2D4E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236208" y="3721608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Ads (reduce)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6236208" y="397764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58% → 61%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6236208" y="425196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targeting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Roadmap — 3 Phases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1097280" cy="457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540D44C4-4591-5641-EE54-8A70B3132A61}"/>
              </a:ext>
            </a:extLst>
          </p:cNvPr>
          <p:cNvGrpSpPr/>
          <p:nvPr/>
        </p:nvGrpSpPr>
        <p:grpSpPr>
          <a:xfrm>
            <a:off x="365760" y="960120"/>
            <a:ext cx="8321040" cy="3529521"/>
            <a:chOff x="365760" y="960120"/>
            <a:chExt cx="8549640" cy="3886200"/>
          </a:xfrm>
        </p:grpSpPr>
        <p:sp>
          <p:nvSpPr>
            <p:cNvPr id="4" name="Shape 2"/>
            <p:cNvSpPr/>
            <p:nvPr/>
          </p:nvSpPr>
          <p:spPr>
            <a:xfrm>
              <a:off x="365760" y="960120"/>
              <a:ext cx="2788920" cy="388620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BD5E1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2000"/>
                </a:srgbClr>
              </a:outerShdw>
            </a:effectLst>
          </p:spPr>
        </p:sp>
        <p:sp>
          <p:nvSpPr>
            <p:cNvPr id="5" name="Shape 3"/>
            <p:cNvSpPr/>
            <p:nvPr/>
          </p:nvSpPr>
          <p:spPr>
            <a:xfrm>
              <a:off x="365760" y="960120"/>
              <a:ext cx="2788920" cy="347472"/>
            </a:xfrm>
            <a:prstGeom prst="rect">
              <a:avLst/>
            </a:prstGeom>
            <a:solidFill>
              <a:srgbClr val="E84855"/>
            </a:solidFill>
            <a:ln w="12700">
              <a:solidFill>
                <a:srgbClr val="E84855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475488" y="996696"/>
              <a:ext cx="256032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Phase 1  ·  Quick Wins</a:t>
              </a:r>
              <a:endParaRPr lang="en-US" sz="14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475488" y="1371600"/>
              <a:ext cx="256032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b="1" dirty="0">
                  <a:solidFill>
                    <a:srgbClr val="E84855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0–30 Days</a:t>
              </a:r>
              <a:endParaRPr lang="en-US" sz="12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75488" y="1691640"/>
              <a:ext cx="2606040" cy="1501083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342900" indent="-342900">
                <a:lnSpc>
                  <a:spcPct val="150000"/>
                </a:lnSpc>
                <a:buSzPct val="100000"/>
                <a:buChar char="•"/>
              </a:pPr>
              <a:r>
                <a:rPr lang="en-US" sz="12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Set CS≥650 approval gate in risk engine</a:t>
              </a:r>
              <a:endParaRPr lang="en-US" sz="1200" dirty="0"/>
            </a:p>
            <a:p>
              <a:pPr marL="342900" indent="-342900">
                <a:lnSpc>
                  <a:spcPct val="150000"/>
                </a:lnSpc>
                <a:buSzPct val="100000"/>
                <a:buChar char="•"/>
              </a:pPr>
              <a:r>
                <a:rPr lang="en-US" sz="12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Launch WhatsApp OTP fallback</a:t>
              </a:r>
              <a:endParaRPr lang="en-US" sz="1200" dirty="0"/>
            </a:p>
            <a:p>
              <a:pPr marL="342900" indent="-342900">
                <a:lnSpc>
                  <a:spcPct val="150000"/>
                </a:lnSpc>
                <a:buSzPct val="100000"/>
                <a:buChar char="•"/>
              </a:pPr>
              <a:r>
                <a:rPr lang="en-US" sz="12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A/B test simplified KYC flow for Gen Z</a:t>
              </a:r>
              <a:endParaRPr lang="en-US" sz="12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46120" y="960120"/>
              <a:ext cx="2788920" cy="388620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BD5E1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2000"/>
                </a:srgbClr>
              </a:outerShdw>
            </a:effectLst>
          </p:spPr>
        </p:sp>
        <p:sp>
          <p:nvSpPr>
            <p:cNvPr id="10" name="Shape 8"/>
            <p:cNvSpPr/>
            <p:nvPr/>
          </p:nvSpPr>
          <p:spPr>
            <a:xfrm>
              <a:off x="3246120" y="960120"/>
              <a:ext cx="2788920" cy="347472"/>
            </a:xfrm>
            <a:prstGeom prst="rect">
              <a:avLst/>
            </a:prstGeom>
            <a:solidFill>
              <a:srgbClr val="F9A620"/>
            </a:solidFill>
            <a:ln w="12700">
              <a:solidFill>
                <a:srgbClr val="F9A620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355848" y="996696"/>
              <a:ext cx="256032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Phase 2  ·  Build</a:t>
              </a:r>
              <a:endParaRPr lang="en-US" sz="14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355848" y="1371600"/>
              <a:ext cx="256032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b="1" dirty="0">
                  <a:solidFill>
                    <a:srgbClr val="F9A62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1–3 Months</a:t>
              </a:r>
              <a:endParaRPr lang="en-US" sz="12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355848" y="1691640"/>
              <a:ext cx="2606040" cy="1501083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342900" indent="-342900">
                <a:lnSpc>
                  <a:spcPct val="150000"/>
                </a:lnSpc>
                <a:buSzPct val="100000"/>
                <a:buChar char="•"/>
              </a:pPr>
              <a:r>
                <a:rPr lang="en-US" sz="12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Referral cashback program launch</a:t>
              </a:r>
              <a:endParaRPr lang="en-US" sz="1200" dirty="0"/>
            </a:p>
            <a:p>
              <a:pPr marL="342900" indent="-342900">
                <a:lnSpc>
                  <a:spcPct val="150000"/>
                </a:lnSpc>
                <a:buSzPct val="100000"/>
                <a:buChar char="•"/>
              </a:pPr>
              <a:r>
                <a:rPr lang="en-US" sz="12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Tier2 Gen Z targeted campaign</a:t>
              </a:r>
              <a:endParaRPr lang="en-US" sz="1200" dirty="0"/>
            </a:p>
            <a:p>
              <a:pPr marL="342900" indent="-342900">
                <a:lnSpc>
                  <a:spcPct val="150000"/>
                </a:lnSpc>
                <a:buSzPct val="100000"/>
                <a:buChar char="•"/>
              </a:pPr>
              <a:r>
                <a:rPr lang="en-US" sz="12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Build early warning credit monitoring</a:t>
              </a:r>
              <a:endParaRPr lang="en-US" sz="12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6126480" y="960120"/>
              <a:ext cx="2788920" cy="388620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BD5E1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2000"/>
                </a:srgbClr>
              </a:outerShdw>
            </a:effectLst>
          </p:spPr>
        </p:sp>
        <p:sp>
          <p:nvSpPr>
            <p:cNvPr id="15" name="Shape 13"/>
            <p:cNvSpPr/>
            <p:nvPr/>
          </p:nvSpPr>
          <p:spPr>
            <a:xfrm>
              <a:off x="6126480" y="960120"/>
              <a:ext cx="2788920" cy="347472"/>
            </a:xfrm>
            <a:prstGeom prst="rect">
              <a:avLst/>
            </a:prstGeom>
            <a:solidFill>
              <a:srgbClr val="02C39A"/>
            </a:solidFill>
            <a:ln w="12700">
              <a:solidFill>
                <a:srgbClr val="02C39A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6236208" y="996696"/>
              <a:ext cx="256032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Phase 3  ·  Scale</a:t>
              </a:r>
              <a:endParaRPr lang="en-US" sz="14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6236208" y="1371600"/>
              <a:ext cx="256032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b="1" dirty="0">
                  <a:solidFill>
                    <a:srgbClr val="02C39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3–6 Months</a:t>
              </a:r>
              <a:endParaRPr lang="en-US" sz="12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6236208" y="1691640"/>
              <a:ext cx="2606040" cy="1501083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342900" indent="-342900">
                <a:lnSpc>
                  <a:spcPct val="150000"/>
                </a:lnSpc>
                <a:buSzPct val="100000"/>
                <a:buChar char="•"/>
              </a:pPr>
              <a:r>
                <a:rPr lang="en-US" sz="12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Full Gen Z UX redesign + dark mode</a:t>
              </a:r>
              <a:endParaRPr lang="en-US" sz="1200" dirty="0"/>
            </a:p>
            <a:p>
              <a:pPr marL="342900" indent="-342900">
                <a:lnSpc>
                  <a:spcPct val="150000"/>
                </a:lnSpc>
                <a:buSzPct val="100000"/>
                <a:buChar char="•"/>
              </a:pPr>
              <a:r>
                <a:rPr lang="en-US" sz="12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Ads budget reallocation to Referral</a:t>
              </a:r>
              <a:endParaRPr lang="en-US" sz="1200" dirty="0"/>
            </a:p>
            <a:p>
              <a:pPr marL="342900" indent="-342900">
                <a:lnSpc>
                  <a:spcPct val="150000"/>
                </a:lnSpc>
                <a:buSzPct val="100000"/>
                <a:buChar char="•"/>
              </a:pPr>
              <a:r>
                <a:rPr lang="en-US" sz="12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Quarterly tradeoff curve review</a:t>
              </a:r>
              <a:endParaRPr lang="en-US" sz="12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365760" y="4663439"/>
              <a:ext cx="8549640" cy="137161"/>
            </a:xfrm>
            <a:prstGeom prst="rect">
              <a:avLst/>
            </a:prstGeom>
            <a:solidFill>
              <a:srgbClr val="CBD5E1"/>
            </a:solidFill>
            <a:ln w="12700">
              <a:solidFill>
                <a:srgbClr val="CBD5E1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1645920" y="4617720"/>
              <a:ext cx="182880" cy="182880"/>
            </a:xfrm>
            <a:prstGeom prst="ellipse">
              <a:avLst/>
            </a:prstGeom>
            <a:solidFill>
              <a:srgbClr val="E84855"/>
            </a:solidFill>
            <a:ln w="12700">
              <a:solidFill>
                <a:srgbClr val="E84855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4526280" y="4617720"/>
              <a:ext cx="182880" cy="182880"/>
            </a:xfrm>
            <a:prstGeom prst="ellipse">
              <a:avLst/>
            </a:prstGeom>
            <a:solidFill>
              <a:srgbClr val="F9A620"/>
            </a:solidFill>
            <a:ln w="12700">
              <a:solidFill>
                <a:srgbClr val="F9A620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7406640" y="4617720"/>
              <a:ext cx="182880" cy="182880"/>
            </a:xfrm>
            <a:prstGeom prst="ellipse">
              <a:avLst/>
            </a:prstGeom>
            <a:solidFill>
              <a:srgbClr val="02C39A"/>
            </a:solidFill>
            <a:ln w="12700">
              <a:solidFill>
                <a:srgbClr val="02C39A"/>
              </a:solidFill>
              <a:prstDash val="solid"/>
            </a:ln>
          </p:spPr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Risks &amp; Limitations — What This Analysis Doesn't Cover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1097280" cy="457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960120"/>
            <a:ext cx="841248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960120"/>
            <a:ext cx="64008" cy="658368"/>
          </a:xfrm>
          <a:prstGeom prst="rect">
            <a:avLst/>
          </a:prstGeom>
          <a:solidFill>
            <a:srgbClr val="E84855"/>
          </a:solidFill>
          <a:ln w="12700">
            <a:solidFill>
              <a:srgbClr val="E8485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3034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48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371600" y="1157420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dataset — real-world distributions may differ significantly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40680" y="1088136"/>
            <a:ext cx="3200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Rerun analysis on 6-month live data before scaling recommendations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371600" y="1325880"/>
            <a:ext cx="393192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5440680" y="978408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Mitigation: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65760" y="1709928"/>
            <a:ext cx="841248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709928"/>
            <a:ext cx="64008" cy="658368"/>
          </a:xfrm>
          <a:prstGeom prst="rect">
            <a:avLst/>
          </a:prstGeom>
          <a:solidFill>
            <a:srgbClr val="E84855"/>
          </a:solidFill>
          <a:ln w="12700">
            <a:solidFill>
              <a:srgbClr val="E8485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188014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48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371600" y="1907228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RBI digital lending norms or IRDAI constraints modeled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440680" y="1837944"/>
            <a:ext cx="3200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Legal review required before changing CS threshold in production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1371600" y="2075688"/>
            <a:ext cx="393192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5440680" y="17282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Mitigation: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65760" y="2459736"/>
            <a:ext cx="841248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65760" y="2459736"/>
            <a:ext cx="64008" cy="658368"/>
          </a:xfrm>
          <a:prstGeom prst="rect">
            <a:avLst/>
          </a:prstGeom>
          <a:solidFill>
            <a:srgbClr val="E84855"/>
          </a:solidFill>
          <a:ln w="12700">
            <a:solidFill>
              <a:srgbClr val="E8485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2920" y="26299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48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371600" y="2657036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churn model built — lifetime value is understated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440680" y="2587752"/>
            <a:ext cx="3200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Add retention rate to net value calculation in Phase 2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371600" y="2825496"/>
            <a:ext cx="393192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dash"/>
          </a:ln>
        </p:spPr>
      </p:sp>
      <p:sp>
        <p:nvSpPr>
          <p:cNvPr id="24" name="Text 22"/>
          <p:cNvSpPr/>
          <p:nvPr/>
        </p:nvSpPr>
        <p:spPr>
          <a:xfrm>
            <a:off x="5440680" y="247802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Mitigation: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65760" y="3209544"/>
            <a:ext cx="841248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65760" y="3209544"/>
            <a:ext cx="64008" cy="658368"/>
          </a:xfrm>
          <a:prstGeom prst="rect">
            <a:avLst/>
          </a:prstGeom>
          <a:solidFill>
            <a:srgbClr val="E84855"/>
          </a:solidFill>
          <a:ln w="12700">
            <a:solidFill>
              <a:srgbClr val="E8485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02920" y="337976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48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371600" y="340684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 detection is batch-only — no real-time signal modeled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440680" y="3337560"/>
            <a:ext cx="3200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Partner with fraud bureau APIs for real-time scoring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1371600" y="3575304"/>
            <a:ext cx="393192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5440680" y="322783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Mitigation: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365760" y="3959352"/>
            <a:ext cx="841248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365760" y="3959352"/>
            <a:ext cx="64008" cy="658368"/>
          </a:xfrm>
          <a:prstGeom prst="rect">
            <a:avLst/>
          </a:prstGeom>
          <a:solidFill>
            <a:srgbClr val="E84855"/>
          </a:solidFill>
          <a:ln w="12700">
            <a:solidFill>
              <a:srgbClr val="E8485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02920" y="412957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48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1371600" y="4156652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 credit cycle not incorporated (rate hikes, job market)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5440680" y="4087368"/>
            <a:ext cx="3200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Quarterly threshold recalibration as credit conditions change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1371600" y="4373294"/>
            <a:ext cx="393192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dash"/>
          </a:ln>
        </p:spPr>
      </p:sp>
      <p:sp>
        <p:nvSpPr>
          <p:cNvPr id="38" name="Text 36"/>
          <p:cNvSpPr/>
          <p:nvPr/>
        </p:nvSpPr>
        <p:spPr>
          <a:xfrm>
            <a:off x="5440680" y="3977640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Mitigation: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23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766560" y="0"/>
            <a:ext cx="2377440" cy="5143500"/>
          </a:xfrm>
          <a:prstGeom prst="rect">
            <a:avLst/>
          </a:prstGeom>
          <a:solidFill>
            <a:srgbClr val="0D3461"/>
          </a:solidFill>
          <a:ln w="12700">
            <a:solidFill>
              <a:srgbClr val="0D346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640080"/>
            <a:ext cx="5943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Actions.</a:t>
            </a:r>
            <a:endParaRPr lang="en-US" sz="2800" dirty="0"/>
          </a:p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Thresholds.</a:t>
            </a:r>
            <a:endParaRPr lang="en-US" sz="2800" dirty="0"/>
          </a:p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Measurable Outcomes.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2103120"/>
            <a:ext cx="5029200" cy="0"/>
          </a:xfrm>
          <a:prstGeom prst="line">
            <a:avLst/>
          </a:prstGeom>
          <a:noFill/>
          <a:ln w="19050">
            <a:solidFill>
              <a:srgbClr val="F9A62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2240280"/>
            <a:ext cx="5943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200000"/>
              </a:lnSpc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Fix Gen Z KYC/OTP friction → close the 20pp conversion gap</a:t>
            </a:r>
            <a:endParaRPr lang="en-US" sz="1400" dirty="0"/>
          </a:p>
          <a:p>
            <a:pPr marL="0" indent="0">
              <a:lnSpc>
                <a:spcPct val="200000"/>
              </a:lnSpc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Set CS ≥ 650 as the approval gate → cut default rate by 7pp</a:t>
            </a:r>
            <a:endParaRPr lang="en-US" sz="1400" dirty="0"/>
          </a:p>
          <a:p>
            <a:pPr marL="0" indent="0">
              <a:lnSpc>
                <a:spcPct val="200000"/>
              </a:lnSpc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Scale Referral; reduce Ads → double channel ROI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02920" y="443484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recommendations are backed by data. All thresholds are testable in 30 days.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234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2A224E2-5E6C-1976-FEA7-C6DAEA6970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18FAD621-4D8F-F4BE-52AE-8EFFBC272F6E}"/>
              </a:ext>
            </a:extLst>
          </p:cNvPr>
          <p:cNvSpPr/>
          <p:nvPr/>
        </p:nvSpPr>
        <p:spPr>
          <a:xfrm>
            <a:off x="457200" y="20116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2200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C98249AB-8B58-0941-0F84-8EC5C4DFF568}"/>
              </a:ext>
            </a:extLst>
          </p:cNvPr>
          <p:cNvSpPr/>
          <p:nvPr/>
        </p:nvSpPr>
        <p:spPr>
          <a:xfrm>
            <a:off x="457200" y="731520"/>
            <a:ext cx="1097280" cy="457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27688301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461</TotalTime>
  <Words>1511</Words>
  <Application>Microsoft Office PowerPoint</Application>
  <PresentationFormat>On-screen Show (16:9)</PresentationFormat>
  <Paragraphs>303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Gen Z Fintech Strategy — JPMorgan-Style Analytics</dc:title>
  <dc:subject>PptxGenJS Presentation</dc:subject>
  <dc:creator>PptxGenJS</dc:creator>
  <cp:lastModifiedBy>Neha Kanaki</cp:lastModifiedBy>
  <cp:revision>23</cp:revision>
  <dcterms:created xsi:type="dcterms:W3CDTF">2026-05-03T12:57:54Z</dcterms:created>
  <dcterms:modified xsi:type="dcterms:W3CDTF">2026-05-04T14:02:42Z</dcterms:modified>
</cp:coreProperties>
</file>