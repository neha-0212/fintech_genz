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874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9975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5D84D-AB9C-B3E2-F44A-7339FBA26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5F23A5-81C4-1D96-3737-E147E54D92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B4930-343C-7448-EC60-5F9467DD7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13807-498F-9E1A-1406-960E271377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14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D3461"/>
          </a:solidFill>
          <a:ln w="12700">
            <a:solidFill>
              <a:srgbClr val="0D34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1097280"/>
            <a:ext cx="1463040" cy="292608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315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Digital Banking Strategy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Analytics + Decision 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5029200" cy="0"/>
          </a:xfrm>
          <a:prstGeom prst="line">
            <a:avLst/>
          </a:prstGeom>
          <a:noFill/>
          <a:ln w="19050">
            <a:solidFill>
              <a:srgbClr val="F9A6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140" y="2080260"/>
            <a:ext cx="632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Gen Z Onboarding Conversion  |  Reduce Default &amp; Fraud Risk  |  Maximize Profitability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42062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1,000 Customers  ·  14 Variables  ·  3 Channels  ·  3 Occupation Types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4526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Neha Kanaki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6400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Onboarding Gap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787653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(age ≤24) converts at only 46.7% — 20 percentage points below older cohorts. KYC and OTP steps are the primary friction points.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2651760" cy="64008"/>
          </a:xfrm>
          <a:prstGeom prst="rect">
            <a:avLst/>
          </a:prstGeom>
          <a:solidFill>
            <a:srgbClr val="F9A620"/>
          </a:solidFill>
          <a:ln w="12700">
            <a:solidFill>
              <a:srgbClr val="F9A6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241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A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Unchecked Default Risk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1787653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19.1% of the customer base has defaulted. Income and transaction behavior show near-zero correlation with default — current proxies are wrong.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91440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914400"/>
            <a:ext cx="26517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241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7220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Profitability Framework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2200" y="1787653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loss are not systematically modeled per customer. High-value segments are not distinguished from high-risk ones in current operations.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4251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gaps together = lost revenue, misallocated risk capital, and poor Gen Z retention.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 Z Is a Strategic Priority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1965960" cy="1828800"/>
          </a:xfrm>
          <a:prstGeom prst="rect">
            <a:avLst/>
          </a:prstGeom>
          <a:solidFill>
            <a:srgbClr val="0D2D4E"/>
          </a:solidFill>
          <a:ln w="63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Customers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33.6% of base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960120"/>
            <a:ext cx="1965960" cy="1828800"/>
          </a:xfrm>
          <a:prstGeom prst="rect">
            <a:avLst/>
          </a:prstGeom>
          <a:solidFill>
            <a:srgbClr val="0D2D4E"/>
          </a:solidFill>
          <a:ln w="63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0515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A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06040" y="1691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Net Value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(Gen Z active)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2377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A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+14% vs others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1965960" cy="1828800"/>
          </a:xfrm>
          <a:prstGeom prst="rect">
            <a:avLst/>
          </a:prstGeom>
          <a:solidFill>
            <a:srgbClr val="0D2D4E"/>
          </a:solidFill>
          <a:ln w="63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0515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46.7%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54880" y="1691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Conversion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Today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377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20pp gap to close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12280" y="960120"/>
            <a:ext cx="1965960" cy="1828800"/>
          </a:xfrm>
          <a:prstGeom prst="rect">
            <a:avLst/>
          </a:prstGeom>
          <a:solidFill>
            <a:srgbClr val="0D2D4E"/>
          </a:solidFill>
          <a:ln w="63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0515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903720" y="1691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Conversions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gap closed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03720" y="2377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uplift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063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actively converted users generate MORE net value than any other segment.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3429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conversion problem is a UX/friction problem — not a product-market fit problem.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will represent 27% of the global workforce by 2025 — early acquisition = lifetime value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Digital-native expectations: they abandon flows in &lt;2 minutes. Every extra KYC field costs conversions.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behavior: Gen Z refers 3x more when satisfied — fixing onboarding creates a viral loop.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Strategic Questions This Analysis Answers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389888"/>
            <a:ext cx="75895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64008" cy="82296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2350008"/>
            <a:ext cx="75895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65760" y="288036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80360"/>
            <a:ext cx="64008" cy="822960"/>
          </a:xfrm>
          <a:prstGeom prst="rect">
            <a:avLst/>
          </a:prstGeom>
          <a:solidFill>
            <a:srgbClr val="F9A620"/>
          </a:solidFill>
          <a:ln w="12700">
            <a:solidFill>
              <a:srgbClr val="F9A6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3310128"/>
            <a:ext cx="75895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840480"/>
            <a:ext cx="64008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429A862-4681-1B7C-6D3A-8B830918E02C}"/>
              </a:ext>
            </a:extLst>
          </p:cNvPr>
          <p:cNvGrpSpPr/>
          <p:nvPr/>
        </p:nvGrpSpPr>
        <p:grpSpPr>
          <a:xfrm>
            <a:off x="502920" y="1248156"/>
            <a:ext cx="8183880" cy="3264408"/>
            <a:chOff x="502920" y="1033272"/>
            <a:chExt cx="8183880" cy="3264408"/>
          </a:xfrm>
        </p:grpSpPr>
        <p:sp>
          <p:nvSpPr>
            <p:cNvPr id="6" name="Text 4"/>
            <p:cNvSpPr/>
            <p:nvPr/>
          </p:nvSpPr>
          <p:spPr>
            <a:xfrm>
              <a:off x="502920" y="1051560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Q1</a:t>
              </a:r>
              <a:endParaRPr lang="en-US" sz="1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914400" y="1033272"/>
              <a:ext cx="378409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Where does Gen Z drop off in onboarding?</a:t>
              </a:r>
              <a:endParaRPr lang="en-US" sz="1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427220" y="1033272"/>
              <a:ext cx="42595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KYC &amp; OTP steps — friction, not intent</a:t>
              </a:r>
              <a:endParaRPr lang="en-US" sz="1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02920" y="2011680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48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Q2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914400" y="1993392"/>
              <a:ext cx="378409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What actually predicts customer default?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427220" y="1993392"/>
              <a:ext cx="42595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48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Credit score only (corr=-0.69); income is not predictive</a:t>
              </a:r>
              <a:endParaRPr lang="en-US" sz="14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502920" y="2971800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9A6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Q3</a:t>
              </a:r>
              <a:endParaRPr lang="en-US" sz="1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914400" y="2953512"/>
              <a:ext cx="378409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Which channel delivers the highest ROI?</a:t>
              </a:r>
              <a:endParaRPr lang="en-US" sz="1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427220" y="2953512"/>
              <a:ext cx="42595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9A6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Referral: 62% conv rate + highest net value</a:t>
              </a:r>
              <a:endParaRPr lang="en-US" sz="14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02920" y="3931920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2C3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Q4</a:t>
              </a:r>
              <a:endParaRPr lang="en-US" sz="14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914400" y="3913632"/>
              <a:ext cx="378409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Where should we set the approval threshold?</a:t>
              </a:r>
              <a:endParaRPr lang="en-US" sz="14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4427220" y="3913632"/>
              <a:ext cx="42595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2C3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Credit score ≥ 650: best risk-revenue balance</a:t>
              </a:r>
              <a:endParaRPr lang="en-US" sz="1400" dirty="0"/>
            </a:p>
          </p:txBody>
        </p:sp>
      </p:grpSp>
      <p:sp>
        <p:nvSpPr>
          <p:cNvPr id="30" name="Shape 28"/>
          <p:cNvSpPr/>
          <p:nvPr/>
        </p:nvSpPr>
        <p:spPr>
          <a:xfrm>
            <a:off x="1005840" y="4270248"/>
            <a:ext cx="75895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 — 1,000 Customers, 14 Variables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Database Schema (4 tables)</a:t>
            </a:r>
            <a:endParaRPr lang="en-US" sz="130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C93507-C61C-FBF8-EF23-3152DFDD7ACA}"/>
              </a:ext>
            </a:extLst>
          </p:cNvPr>
          <p:cNvGrpSpPr/>
          <p:nvPr/>
        </p:nvGrpSpPr>
        <p:grpSpPr>
          <a:xfrm>
            <a:off x="365760" y="1234440"/>
            <a:ext cx="4114800" cy="3581400"/>
            <a:chOff x="365760" y="1234440"/>
            <a:chExt cx="4114800" cy="3127248"/>
          </a:xfrm>
        </p:grpSpPr>
        <p:sp>
          <p:nvSpPr>
            <p:cNvPr id="5" name="Shape 3"/>
            <p:cNvSpPr/>
            <p:nvPr/>
          </p:nvSpPr>
          <p:spPr>
            <a:xfrm>
              <a:off x="365760" y="1234440"/>
              <a:ext cx="4114800" cy="7132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365760" y="1234440"/>
              <a:ext cx="64008" cy="713232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502920" y="1545336"/>
              <a:ext cx="3840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customer_id, age, income, occupation, region, channel, signup_date</a:t>
              </a:r>
              <a:endParaRPr lang="en-US" sz="11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65760" y="2039112"/>
              <a:ext cx="4114800" cy="7132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365760" y="2039112"/>
              <a:ext cx="64008" cy="713232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502920" y="2350008"/>
              <a:ext cx="3840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onboarding_step, onboarding_status, conversion_flag</a:t>
              </a:r>
              <a:endParaRPr lang="en-US" sz="11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65760" y="2843784"/>
              <a:ext cx="4114800" cy="7132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365760" y="2843784"/>
              <a:ext cx="64008" cy="713232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502920" y="3154680"/>
              <a:ext cx="3840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transaction_count, avg_transaction_value, intensity, volume</a:t>
              </a:r>
              <a:endParaRPr lang="en-US" sz="11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65760" y="3648456"/>
              <a:ext cx="4114800" cy="7132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8" name="Shape 16"/>
            <p:cNvSpPr/>
            <p:nvPr/>
          </p:nvSpPr>
          <p:spPr>
            <a:xfrm>
              <a:off x="365760" y="3648456"/>
              <a:ext cx="64008" cy="713232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C36B153D-9841-002D-D63B-8F35BD51525F}"/>
                </a:ext>
              </a:extLst>
            </p:cNvPr>
            <p:cNvGrpSpPr/>
            <p:nvPr/>
          </p:nvGrpSpPr>
          <p:grpSpPr>
            <a:xfrm>
              <a:off x="502920" y="1289304"/>
              <a:ext cx="3840480" cy="2651760"/>
              <a:chOff x="502920" y="1289304"/>
              <a:chExt cx="3840480" cy="2651760"/>
            </a:xfrm>
          </p:grpSpPr>
          <p:sp>
            <p:nvSpPr>
              <p:cNvPr id="7" name="Text 5"/>
              <p:cNvSpPr/>
              <p:nvPr/>
            </p:nvSpPr>
            <p:spPr>
              <a:xfrm>
                <a:off x="502920" y="1289304"/>
                <a:ext cx="384048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02809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customers</a:t>
                </a:r>
                <a:endParaRPr lang="en-US" sz="1300" dirty="0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502920" y="2093976"/>
                <a:ext cx="384048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02809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onboarding_events</a:t>
                </a:r>
                <a:endParaRPr lang="en-US" sz="1300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502920" y="2898648"/>
                <a:ext cx="384048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02809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transactions</a:t>
                </a:r>
                <a:endParaRPr lang="en-US" sz="1300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502920" y="3703320"/>
                <a:ext cx="384048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02809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risk_profile</a:t>
                </a:r>
                <a:endParaRPr lang="en-US" sz="1300" dirty="0"/>
              </a:p>
            </p:txBody>
          </p:sp>
        </p:grpSp>
        <p:sp>
          <p:nvSpPr>
            <p:cNvPr id="20" name="Text 18"/>
            <p:cNvSpPr/>
            <p:nvPr/>
          </p:nvSpPr>
          <p:spPr>
            <a:xfrm>
              <a:off x="502920" y="3959352"/>
              <a:ext cx="3840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credit_score, risk_band, default_flag, fraud_flag, net_value</a:t>
              </a:r>
              <a:endParaRPr lang="en-US" sz="1100" dirty="0"/>
            </a:p>
          </p:txBody>
        </p:sp>
      </p:grpSp>
      <p:sp>
        <p:nvSpPr>
          <p:cNvPr id="21" name="Text 19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3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1691E3B-694F-7D91-39D5-9BC69C312E3D}"/>
              </a:ext>
            </a:extLst>
          </p:cNvPr>
          <p:cNvGrpSpPr/>
          <p:nvPr/>
        </p:nvGrpSpPr>
        <p:grpSpPr>
          <a:xfrm>
            <a:off x="4754880" y="1234440"/>
            <a:ext cx="4114800" cy="3581400"/>
            <a:chOff x="4754880" y="1234440"/>
            <a:chExt cx="3794760" cy="2990088"/>
          </a:xfrm>
        </p:grpSpPr>
        <p:sp>
          <p:nvSpPr>
            <p:cNvPr id="22" name="Shape 20"/>
            <p:cNvSpPr/>
            <p:nvPr/>
          </p:nvSpPr>
          <p:spPr>
            <a:xfrm>
              <a:off x="4754880" y="1234440"/>
              <a:ext cx="1828800" cy="6583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3" name="Text 21"/>
            <p:cNvSpPr/>
            <p:nvPr/>
          </p:nvSpPr>
          <p:spPr>
            <a:xfrm>
              <a:off x="4846320" y="1289304"/>
              <a:ext cx="1645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1,000</a:t>
              </a:r>
              <a:endParaRPr lang="en-US" sz="18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846320" y="1636776"/>
              <a:ext cx="1645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/>
                <a:t>Total Customers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754880" y="2011680"/>
              <a:ext cx="1828800" cy="6583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6" name="Text 24"/>
            <p:cNvSpPr/>
            <p:nvPr/>
          </p:nvSpPr>
          <p:spPr>
            <a:xfrm>
              <a:off x="4846320" y="2066544"/>
              <a:ext cx="1645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2C3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</a:t>
              </a:r>
              <a:endParaRPr lang="en-US" sz="18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846320" y="2414016"/>
              <a:ext cx="1645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/>
                <a:t>Missing Values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754880" y="2788920"/>
              <a:ext cx="1828800" cy="6583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9" name="Text 27"/>
            <p:cNvSpPr/>
            <p:nvPr/>
          </p:nvSpPr>
          <p:spPr>
            <a:xfrm>
              <a:off x="4846320" y="2843784"/>
              <a:ext cx="1645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20–34</a:t>
              </a:r>
              <a:endParaRPr lang="en-US" sz="18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4846320" y="3191256"/>
              <a:ext cx="1645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/>
                <a:t>Age Range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4754880" y="3566160"/>
              <a:ext cx="1828800" cy="6583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2" name="Text 30"/>
            <p:cNvSpPr/>
            <p:nvPr/>
          </p:nvSpPr>
          <p:spPr>
            <a:xfrm>
              <a:off x="4846320" y="3621024"/>
              <a:ext cx="1645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F9A6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 types</a:t>
              </a:r>
              <a:endParaRPr lang="en-US" sz="18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4846320" y="3968496"/>
              <a:ext cx="1645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/>
                <a:t>Occupations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6720840" y="1234440"/>
              <a:ext cx="1828800" cy="6583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5" name="Text 33"/>
            <p:cNvSpPr/>
            <p:nvPr/>
          </p:nvSpPr>
          <p:spPr>
            <a:xfrm>
              <a:off x="6812280" y="1289304"/>
              <a:ext cx="1645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F9A6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 types</a:t>
              </a:r>
              <a:endParaRPr lang="en-US" sz="18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6812280" y="1636776"/>
              <a:ext cx="1645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/>
                <a:t>Acquisition Channels</a:t>
              </a:r>
              <a:endParaRPr lang="en-US" sz="10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6720840" y="2011680"/>
              <a:ext cx="1828800" cy="6583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8" name="Text 36"/>
            <p:cNvSpPr/>
            <p:nvPr/>
          </p:nvSpPr>
          <p:spPr>
            <a:xfrm>
              <a:off x="6812280" y="2066544"/>
              <a:ext cx="1645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Tier1 + Tier2</a:t>
              </a:r>
              <a:endParaRPr lang="en-US" sz="18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6812280" y="2414016"/>
              <a:ext cx="1645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/>
                <a:t>Regions</a:t>
              </a:r>
              <a:endParaRPr lang="en-US" sz="10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6720840" y="2788920"/>
              <a:ext cx="1828800" cy="6583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41" name="Text 39"/>
            <p:cNvSpPr/>
            <p:nvPr/>
          </p:nvSpPr>
          <p:spPr>
            <a:xfrm>
              <a:off x="6812280" y="2843784"/>
              <a:ext cx="1645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2C3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</a:t>
              </a:r>
              <a:endParaRPr lang="en-US" sz="18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6812280" y="3191256"/>
              <a:ext cx="1645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/>
                <a:t>Derived Features Built</a:t>
              </a:r>
              <a:endParaRPr lang="en-US" sz="10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6720840" y="3566160"/>
              <a:ext cx="1828800" cy="6583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44" name="Text 42"/>
            <p:cNvSpPr/>
            <p:nvPr/>
          </p:nvSpPr>
          <p:spPr>
            <a:xfrm>
              <a:off x="6812280" y="3621024"/>
              <a:ext cx="1645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2C3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8+</a:t>
              </a:r>
              <a:endParaRPr lang="en-US" sz="18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6812280" y="3968496"/>
              <a:ext cx="1645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/>
                <a:t>SQL Queries Delivered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Analysis — Where Customers Drop Off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by Onboarding Step</a:t>
            </a:r>
            <a:endParaRPr lang="en-US" sz="14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1ED0088-A3EC-3D99-CDCD-6D3823F95E98}"/>
              </a:ext>
            </a:extLst>
          </p:cNvPr>
          <p:cNvGrpSpPr/>
          <p:nvPr/>
        </p:nvGrpSpPr>
        <p:grpSpPr>
          <a:xfrm>
            <a:off x="365760" y="1280160"/>
            <a:ext cx="4114800" cy="3604260"/>
            <a:chOff x="365760" y="1280160"/>
            <a:chExt cx="4114800" cy="3081528"/>
          </a:xfrm>
        </p:grpSpPr>
        <p:sp>
          <p:nvSpPr>
            <p:cNvPr id="5" name="Text 3"/>
            <p:cNvSpPr/>
            <p:nvPr/>
          </p:nvSpPr>
          <p:spPr>
            <a:xfrm>
              <a:off x="365760" y="1280160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Completed Step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365760" y="1572768"/>
              <a:ext cx="4114800" cy="411480"/>
            </a:xfrm>
            <a:prstGeom prst="rect">
              <a:avLst/>
            </a:prstGeom>
            <a:solidFill>
              <a:srgbClr val="CBD5E1">
                <a:alpha val="50000"/>
              </a:srgbClr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365760" y="1572768"/>
              <a:ext cx="2472995" cy="411480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2930195" y="1618488"/>
              <a:ext cx="7315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60.1%</a:t>
              </a:r>
              <a:endParaRPr lang="en-US" sz="1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65760" y="2029968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E848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399 dropped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65760" y="2331720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OTP Verification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65760" y="2624328"/>
              <a:ext cx="4114800" cy="411480"/>
            </a:xfrm>
            <a:prstGeom prst="rect">
              <a:avLst/>
            </a:prstGeom>
            <a:solidFill>
              <a:srgbClr val="CBD5E1">
                <a:alpha val="50000"/>
              </a:srgbClr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365760" y="2624328"/>
              <a:ext cx="2304288" cy="411480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2761488" y="2670048"/>
              <a:ext cx="7315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56%</a:t>
              </a:r>
              <a:endParaRPr lang="en-US" sz="1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65760" y="3081528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E848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147 dropped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65760" y="3383280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KYC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65760" y="3675888"/>
              <a:ext cx="4114800" cy="411480"/>
            </a:xfrm>
            <a:prstGeom prst="rect">
              <a:avLst/>
            </a:prstGeom>
            <a:solidFill>
              <a:srgbClr val="CBD5E1">
                <a:alpha val="50000"/>
              </a:srgbClr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365760" y="3675888"/>
              <a:ext cx="1991563" cy="411480"/>
            </a:xfrm>
            <a:prstGeom prst="rect">
              <a:avLst/>
            </a:prstGeom>
            <a:solidFill>
              <a:srgbClr val="E84855"/>
            </a:solidFill>
            <a:ln w="12700">
              <a:solidFill>
                <a:srgbClr val="E84855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2448763" y="3721608"/>
              <a:ext cx="7315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848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48.4%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365760" y="4133088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E848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214 dropped</a:t>
              </a:r>
              <a:endParaRPr lang="en-US" sz="10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269E040-DA68-F34A-EC39-CF9E2CF68BDF}"/>
              </a:ext>
            </a:extLst>
          </p:cNvPr>
          <p:cNvGrpSpPr/>
          <p:nvPr/>
        </p:nvGrpSpPr>
        <p:grpSpPr>
          <a:xfrm>
            <a:off x="4892040" y="799455"/>
            <a:ext cx="3886200" cy="4084965"/>
            <a:chOff x="5029200" y="822960"/>
            <a:chExt cx="3749040" cy="3657600"/>
          </a:xfrm>
        </p:grpSpPr>
        <p:sp>
          <p:nvSpPr>
            <p:cNvPr id="21" name="Text 19"/>
            <p:cNvSpPr/>
            <p:nvPr/>
          </p:nvSpPr>
          <p:spPr>
            <a:xfrm>
              <a:off x="5166360" y="822960"/>
              <a:ext cx="347472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 Z vs Non-Gen Z</a:t>
              </a:r>
              <a:endParaRPr lang="en-US" sz="1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166360" y="1417320"/>
              <a:ext cx="3291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 Z (≤24)</a:t>
              </a:r>
              <a:endParaRPr lang="en-US" sz="12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166360" y="1691640"/>
              <a:ext cx="2926080" cy="347472"/>
            </a:xfrm>
            <a:prstGeom prst="rect">
              <a:avLst/>
            </a:prstGeom>
            <a:solidFill>
              <a:srgbClr val="CBD5E1">
                <a:alpha val="40000"/>
              </a:srgbClr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5166360" y="1691640"/>
              <a:ext cx="1366479" cy="347472"/>
            </a:xfrm>
            <a:prstGeom prst="rect">
              <a:avLst/>
            </a:prstGeom>
            <a:solidFill>
              <a:srgbClr val="E84855"/>
            </a:solidFill>
            <a:ln w="12700">
              <a:solidFill>
                <a:srgbClr val="E84855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6624279" y="1719072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848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46.7%</a:t>
              </a:r>
              <a:endParaRPr lang="en-US" sz="12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5166360" y="2286000"/>
              <a:ext cx="3291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Young Millennial (25-29)</a:t>
              </a:r>
              <a:endParaRPr lang="en-US" sz="12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5166360" y="2560320"/>
              <a:ext cx="2926080" cy="347472"/>
            </a:xfrm>
            <a:prstGeom prst="rect">
              <a:avLst/>
            </a:prstGeom>
            <a:solidFill>
              <a:srgbClr val="CBD5E1">
                <a:alpha val="40000"/>
              </a:srgbClr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5166360" y="2560320"/>
              <a:ext cx="1858061" cy="347472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7115861" y="2587752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63.5%</a:t>
              </a:r>
              <a:endParaRPr lang="en-US" sz="12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5166360" y="3154680"/>
              <a:ext cx="3291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Millennial (30-34)</a:t>
              </a:r>
              <a:endParaRPr lang="en-US" sz="12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5166360" y="3429000"/>
              <a:ext cx="2926080" cy="347472"/>
            </a:xfrm>
            <a:prstGeom prst="rect">
              <a:avLst/>
            </a:prstGeom>
            <a:solidFill>
              <a:srgbClr val="CBD5E1">
                <a:alpha val="40000"/>
              </a:srgbClr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5166360" y="3429000"/>
              <a:ext cx="1995587" cy="347472"/>
            </a:xfrm>
            <a:prstGeom prst="rect">
              <a:avLst/>
            </a:prstGeom>
            <a:solidFill>
              <a:srgbClr val="02C39A"/>
            </a:solidFill>
            <a:ln w="12700">
              <a:solidFill>
                <a:srgbClr val="02C39A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7253387" y="3456432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2C3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68.2%</a:t>
              </a:r>
              <a:endParaRPr lang="en-US" sz="12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5029200" y="4005072"/>
              <a:ext cx="3749040" cy="475488"/>
            </a:xfrm>
            <a:prstGeom prst="rect">
              <a:avLst/>
            </a:prstGeom>
            <a:solidFill>
              <a:srgbClr val="FFF3F4"/>
            </a:solidFill>
            <a:ln w="6350">
              <a:solidFill>
                <a:srgbClr val="E84855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5120640" y="4069080"/>
              <a:ext cx="35661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848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⚡ Gen Z has a 20pp conversion gap. Root cause: KYC + OTP friction — not intent.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— Value vs Risk Matrix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Low Net Value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13232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Net Value →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023360" cy="1554480"/>
          </a:xfrm>
          <a:prstGeom prst="rect">
            <a:avLst/>
          </a:prstGeom>
          <a:solidFill>
            <a:srgbClr val="FFF8E1"/>
          </a:solidFill>
          <a:ln w="19050">
            <a:solidFill>
              <a:srgbClr val="F9A6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— Low Value, High Risk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990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Salaried Millennials: 21.3% default rate.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income proxy, poor credit behavior.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14800" cy="1554480"/>
          </a:xfrm>
          <a:prstGeom prst="rect">
            <a:avLst/>
          </a:prstGeom>
          <a:solidFill>
            <a:srgbClr val="E8FFF5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515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— High Value, Low Risk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39903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Freelancers: highest net value (₹226)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manageable risk. Priority acquisition.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4023360" cy="1645920"/>
          </a:xfrm>
          <a:prstGeom prst="rect">
            <a:avLst/>
          </a:prstGeom>
          <a:solidFill>
            <a:srgbClr val="FFECEC"/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974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— Low Value, High Risk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04495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via Ads channel: low conversion,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friction, low transaction volume.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606040"/>
            <a:ext cx="4114800" cy="1645920"/>
          </a:xfrm>
          <a:prstGeom prst="rect">
            <a:avLst/>
          </a:prstGeom>
          <a:solidFill>
            <a:srgbClr val="E8F4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6974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— High Value, Low Risk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304495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Millennial Freelancers: best balanced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segment. Scale via Referral channel.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43400" y="960120"/>
            <a:ext cx="0" cy="329184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65760" y="251460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65760" y="4343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Low Risk  |  High Risk →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— What Actually Drives Default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Default Flag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16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→ Default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37560" y="129844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-0.687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— Negative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0665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→ Default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204825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Near Zero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761488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816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→ Default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79806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31272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Near Zero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511296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566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Count → Default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35478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+0.008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3877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Near Zero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914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by Risk Band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1261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12618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55280" y="1261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NV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1536192"/>
            <a:ext cx="4023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572768"/>
            <a:ext cx="109728" cy="5303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  (&lt;550)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0" y="1645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55280" y="1645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-₹152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2231136"/>
            <a:ext cx="109728" cy="530352"/>
          </a:xfrm>
          <a:prstGeom prst="rect">
            <a:avLst/>
          </a:prstGeom>
          <a:solidFill>
            <a:srgbClr val="F9A620"/>
          </a:solidFill>
          <a:ln w="12700">
            <a:solidFill>
              <a:srgbClr val="F9A6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 (550-650)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66560" y="23042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0" y="23042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955280" y="23042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₹78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0" y="2889504"/>
            <a:ext cx="10972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2962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   (650-750)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66560" y="2962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15200" y="29626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11.9%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955280" y="29626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₹234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54880" y="3547872"/>
            <a:ext cx="109728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3621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   (&gt;750)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66560" y="3621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315200" y="36210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955280" y="36210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₹387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2"/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is the ONLY reliable default predictor.</a:t>
            </a:r>
            <a:endParaRPr lang="en-US" sz="13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Income-based underwriting adds noise, not signal.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Tradeoff Engine — The Core Decision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743200" cy="3749040"/>
          </a:xfrm>
          <a:prstGeom prst="rect">
            <a:avLst/>
          </a:prstGeom>
          <a:solidFill>
            <a:srgbClr val="0A2342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081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≥ 550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37744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305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Net Value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850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₹199K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246120" y="914400"/>
            <a:ext cx="2743200" cy="3749040"/>
          </a:xfrm>
          <a:prstGeom prst="rect">
            <a:avLst/>
          </a:prstGeom>
          <a:solidFill>
            <a:srgbClr val="0D3461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914400"/>
            <a:ext cx="274320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9326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RECOMMENDED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12984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1700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≥ 650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2029968"/>
            <a:ext cx="237744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167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2423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337560" y="2944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3200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337560" y="3721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Net Value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3977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₹173K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126480" y="914400"/>
            <a:ext cx="2743200" cy="3749040"/>
          </a:xfrm>
          <a:prstGeom prst="rect">
            <a:avLst/>
          </a:prstGeom>
          <a:solidFill>
            <a:srgbClr val="0A2342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005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A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14081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≥ 750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1737360"/>
            <a:ext cx="237744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1874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21305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A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217920" y="2651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29077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A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217920" y="3429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Net Value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36850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A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₹110K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threshold (650) captures 75% of customers, keeps default at 12%, and maximises net value.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Quantified &amp; Decision-Ready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B8835D6-E6ED-8C0E-D9C3-340F4B814934}"/>
              </a:ext>
            </a:extLst>
          </p:cNvPr>
          <p:cNvGrpSpPr/>
          <p:nvPr/>
        </p:nvGrpSpPr>
        <p:grpSpPr>
          <a:xfrm>
            <a:off x="297180" y="976884"/>
            <a:ext cx="8686800" cy="3831336"/>
            <a:chOff x="365760" y="960120"/>
            <a:chExt cx="8686800" cy="3639312"/>
          </a:xfrm>
        </p:grpSpPr>
        <p:sp>
          <p:nvSpPr>
            <p:cNvPr id="4" name="Shape 2"/>
            <p:cNvSpPr/>
            <p:nvPr/>
          </p:nvSpPr>
          <p:spPr>
            <a:xfrm>
              <a:off x="365760" y="960120"/>
              <a:ext cx="4206240" cy="11155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Shape 3"/>
            <p:cNvSpPr/>
            <p:nvPr/>
          </p:nvSpPr>
          <p:spPr>
            <a:xfrm>
              <a:off x="365760" y="960120"/>
              <a:ext cx="64008" cy="1115568"/>
            </a:xfrm>
            <a:prstGeom prst="rect">
              <a:avLst/>
            </a:prstGeom>
            <a:solidFill>
              <a:srgbClr val="E84855"/>
            </a:solidFill>
            <a:ln w="12700">
              <a:solidFill>
                <a:srgbClr val="E84855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868680" y="1014984"/>
              <a:ext cx="3566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 Z has a 20pp conversion gap at KYC/OTP steps.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02920" y="1554480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E848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46.7% → 66%+</a:t>
              </a:r>
              <a:endParaRPr lang="en-US" sz="2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02920" y="1828800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potential if fixed</a:t>
              </a:r>
              <a:endParaRPr lang="en-US" sz="12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846320" y="960120"/>
              <a:ext cx="4206240" cy="11155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1" name="Shape 9"/>
            <p:cNvSpPr/>
            <p:nvPr/>
          </p:nvSpPr>
          <p:spPr>
            <a:xfrm>
              <a:off x="4846320" y="960120"/>
              <a:ext cx="64008" cy="1115568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5349240" y="1014984"/>
              <a:ext cx="3566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Credit score is the only reliable default predictor (corr=-0.69).</a:t>
              </a:r>
              <a:endParaRPr lang="en-US" sz="1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983480" y="1554480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-0.69</a:t>
              </a:r>
              <a:endParaRPr lang="en-US" sz="2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983480" y="1828800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correlation</a:t>
              </a:r>
              <a:endParaRPr lang="en-US" sz="12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65760" y="2221992"/>
              <a:ext cx="4206240" cy="11155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365760" y="2221992"/>
              <a:ext cx="64008" cy="1115568"/>
            </a:xfrm>
            <a:prstGeom prst="rect">
              <a:avLst/>
            </a:prstGeom>
            <a:solidFill>
              <a:srgbClr val="F9A620"/>
            </a:solidFill>
            <a:ln w="12700">
              <a:solidFill>
                <a:srgbClr val="F9A620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868680" y="2276856"/>
              <a:ext cx="3566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Referral is the best channel: 62% conv + highest net value.</a:t>
              </a:r>
              <a:endParaRPr lang="en-US" sz="12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502920" y="2816352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9A6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62%</a:t>
              </a:r>
              <a:endParaRPr lang="en-US" sz="20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02920" y="3090672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conversion rate</a:t>
              </a:r>
              <a:endParaRPr lang="en-US" sz="12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4846320" y="2221992"/>
              <a:ext cx="4206240" cy="11155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3" name="Shape 21"/>
            <p:cNvSpPr/>
            <p:nvPr/>
          </p:nvSpPr>
          <p:spPr>
            <a:xfrm>
              <a:off x="4846320" y="2221992"/>
              <a:ext cx="64008" cy="1115568"/>
            </a:xfrm>
            <a:prstGeom prst="rect">
              <a:avLst/>
            </a:prstGeom>
            <a:solidFill>
              <a:srgbClr val="02C39A"/>
            </a:solidFill>
            <a:ln w="12700">
              <a:solidFill>
                <a:srgbClr val="02C39A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5349240" y="2276856"/>
              <a:ext cx="3566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Active Gen Z users generate ₹226 avg net value — 14% above average.</a:t>
              </a:r>
              <a:endParaRPr lang="en-US" sz="12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4983480" y="2816352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02C3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₹226</a:t>
              </a:r>
              <a:endParaRPr lang="en-US" sz="2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983480" y="3090672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avg net value</a:t>
              </a:r>
              <a:endParaRPr lang="en-US" sz="12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365760" y="3483864"/>
              <a:ext cx="4206240" cy="11155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9" name="Shape 27"/>
            <p:cNvSpPr/>
            <p:nvPr/>
          </p:nvSpPr>
          <p:spPr>
            <a:xfrm>
              <a:off x="365760" y="3483864"/>
              <a:ext cx="64008" cy="1115568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868680" y="3538728"/>
              <a:ext cx="3566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Threshold at CS≥650 maximises net value with 12% default rate.</a:t>
              </a:r>
              <a:endParaRPr lang="en-US" sz="12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502920" y="4078224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75%</a:t>
              </a:r>
              <a:endParaRPr lang="en-US" sz="20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502920" y="4352544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approval at ≥650</a:t>
              </a:r>
              <a:endParaRPr lang="en-US" sz="12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4846320" y="3483864"/>
              <a:ext cx="4206240" cy="11155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5" name="Shape 33"/>
            <p:cNvSpPr/>
            <p:nvPr/>
          </p:nvSpPr>
          <p:spPr>
            <a:xfrm>
              <a:off x="4846320" y="3483864"/>
              <a:ext cx="64008" cy="1115568"/>
            </a:xfrm>
            <a:prstGeom prst="rect">
              <a:avLst/>
            </a:prstGeom>
            <a:solidFill>
              <a:srgbClr val="E84855"/>
            </a:solidFill>
            <a:ln w="12700">
              <a:solidFill>
                <a:srgbClr val="E84855"/>
              </a:solidFill>
              <a:prstDash val="solid"/>
            </a:ln>
          </p:spPr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CD7FB45-37DB-058B-E04B-696817B68BDF}"/>
                </a:ext>
              </a:extLst>
            </p:cNvPr>
            <p:cNvGrpSpPr/>
            <p:nvPr/>
          </p:nvGrpSpPr>
          <p:grpSpPr>
            <a:xfrm>
              <a:off x="594362" y="1101852"/>
              <a:ext cx="4846320" cy="2798064"/>
              <a:chOff x="502920" y="1014984"/>
              <a:chExt cx="4846320" cy="2798064"/>
            </a:xfrm>
          </p:grpSpPr>
          <p:sp>
            <p:nvSpPr>
              <p:cNvPr id="6" name="Text 4"/>
              <p:cNvSpPr/>
              <p:nvPr/>
            </p:nvSpPr>
            <p:spPr>
              <a:xfrm>
                <a:off x="502920" y="1014984"/>
                <a:ext cx="36576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E848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01</a:t>
                </a:r>
                <a:endParaRPr lang="en-US" sz="1100" dirty="0"/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4983480" y="1014984"/>
                <a:ext cx="36576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02809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02</a:t>
                </a:r>
                <a:endParaRPr lang="en-US" sz="1100" dirty="0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502920" y="2276856"/>
                <a:ext cx="36576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F9A62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03</a:t>
                </a:r>
                <a:endParaRPr lang="en-US" sz="1100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4983480" y="2276856"/>
                <a:ext cx="36576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02C39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04</a:t>
                </a:r>
                <a:endParaRPr lang="en-US" sz="1100" dirty="0"/>
              </a:p>
            </p:txBody>
          </p:sp>
          <p:sp>
            <p:nvSpPr>
              <p:cNvPr id="30" name="Text 28"/>
              <p:cNvSpPr/>
              <p:nvPr/>
            </p:nvSpPr>
            <p:spPr>
              <a:xfrm>
                <a:off x="502920" y="3538728"/>
                <a:ext cx="36576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02809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05</a:t>
                </a:r>
                <a:endParaRPr lang="en-US" sz="1100" dirty="0"/>
              </a:p>
            </p:txBody>
          </p:sp>
          <p:sp>
            <p:nvSpPr>
              <p:cNvPr id="36" name="Text 34"/>
              <p:cNvSpPr/>
              <p:nvPr/>
            </p:nvSpPr>
            <p:spPr>
              <a:xfrm>
                <a:off x="4983480" y="3538728"/>
                <a:ext cx="36576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E848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06</a:t>
                </a:r>
                <a:endParaRPr lang="en-US" sz="1100" dirty="0"/>
              </a:p>
            </p:txBody>
          </p:sp>
        </p:grpSp>
        <p:sp>
          <p:nvSpPr>
            <p:cNvPr id="37" name="Text 35"/>
            <p:cNvSpPr/>
            <p:nvPr/>
          </p:nvSpPr>
          <p:spPr>
            <a:xfrm>
              <a:off x="5349240" y="3538728"/>
              <a:ext cx="3566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Salaried segment has highest default rate (21.3%) despite highest income.</a:t>
              </a:r>
              <a:endParaRPr lang="en-US" sz="12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4983480" y="4078224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E848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21.3%</a:t>
              </a:r>
              <a:endParaRPr lang="en-US" sz="20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4983480" y="4352544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Salaried default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— Product · Risk · Growth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058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8348" y="1261872"/>
            <a:ext cx="2560320" cy="3070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KYC: reduce fields, add progress bar, enable DigiLocker auto-fill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fallback: offer WhatsApp OTP as alternative to SMS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UX audit: A/B test dark mode, gamified onboarding, instant gratification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743200" cy="34747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0058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3760" y="1417320"/>
            <a:ext cx="2502408" cy="2766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credit score ≥ 650 as primary approval gate (not income)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 Risk band (CS &lt; 550) for manual review before activation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90-day early warning system: credit score drop alert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743200" cy="347472"/>
          </a:xfrm>
          <a:prstGeom prst="rect">
            <a:avLst/>
          </a:prstGeom>
          <a:solidFill>
            <a:srgbClr val="F9A620"/>
          </a:solidFill>
          <a:ln w="12700">
            <a:solidFill>
              <a:srgbClr val="F9A6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0058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36208" y="1417320"/>
            <a:ext cx="2560320" cy="3070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Referral: introduce cashback for successful friend referrals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Ads spend by 30%; reallocate to Referral incentives + Organic SEO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Tier2 city push: Freelancer + Tier2 shows compelling risk-return profile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— If Recommendations Adopted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1965960" cy="2286000"/>
          </a:xfrm>
          <a:prstGeom prst="rect">
            <a:avLst/>
          </a:prstGeom>
          <a:solidFill>
            <a:srgbClr val="0D2D4E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Converted Customers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267712"/>
            <a:ext cx="1691640" cy="0"/>
          </a:xfrm>
          <a:prstGeom prst="line">
            <a:avLst/>
          </a:prstGeom>
          <a:noFill/>
          <a:ln w="6350">
            <a:solidFill>
              <a:srgbClr val="02C39A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31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closing Gen Z conv gap from 47% → 67%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914400"/>
            <a:ext cx="1965960" cy="2286000"/>
          </a:xfrm>
          <a:prstGeom prst="rect">
            <a:avLst/>
          </a:prstGeom>
          <a:solidFill>
            <a:srgbClr val="0D2D4E"/>
          </a:solidFill>
          <a:ln w="12700">
            <a:solidFill>
              <a:srgbClr val="F9A6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0058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A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-7pp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06040" y="1783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Reduction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2267712"/>
            <a:ext cx="1691640" cy="0"/>
          </a:xfrm>
          <a:prstGeom prst="line">
            <a:avLst/>
          </a:prstGeom>
          <a:noFill/>
          <a:ln w="6350">
            <a:solidFill>
              <a:srgbClr val="F9A62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606040" y="2331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CS≥650 gate removes worst risk cohort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1965960" cy="2286000"/>
          </a:xfrm>
          <a:prstGeom prst="rect">
            <a:avLst/>
          </a:prstGeom>
          <a:solidFill>
            <a:srgbClr val="0D2D4E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0058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₹27K+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54880" y="1783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Net Value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2267712"/>
            <a:ext cx="169164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754880" y="2331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incremental Gen Z conversions alone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914400"/>
            <a:ext cx="1965960" cy="2286000"/>
          </a:xfrm>
          <a:prstGeom prst="rect">
            <a:avLst/>
          </a:prstGeom>
          <a:solidFill>
            <a:srgbClr val="0D2D4E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10058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903720" y="1783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Channel ROI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49440" y="2267712"/>
            <a:ext cx="1691640" cy="0"/>
          </a:xfrm>
          <a:prstGeom prst="line">
            <a:avLst/>
          </a:prstGeom>
          <a:noFill/>
          <a:ln w="6350">
            <a:solidFill>
              <a:srgbClr val="02C39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903720" y="2331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Reallocating Ads budget to Referral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337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Strategy Impact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2743200" cy="914400"/>
          </a:xfrm>
          <a:prstGeom prst="rect">
            <a:avLst/>
          </a:prstGeom>
          <a:solidFill>
            <a:srgbClr val="0D2D4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7216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(scale)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" y="3977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→ 68%+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referral cashback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3657600"/>
            <a:ext cx="2743200" cy="914400"/>
          </a:xfrm>
          <a:prstGeom prst="rect">
            <a:avLst/>
          </a:prstGeom>
          <a:solidFill>
            <a:srgbClr val="0D2D4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37216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(maintain)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55848" y="3977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→ 63%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55848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content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3657600"/>
            <a:ext cx="2743200" cy="914400"/>
          </a:xfrm>
          <a:prstGeom prst="rect">
            <a:avLst/>
          </a:prstGeom>
          <a:solidFill>
            <a:srgbClr val="0D2D4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37216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(reduce)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36208" y="3977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→ 61%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36208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targeting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— 3 Phases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40D44C4-4591-5641-EE54-8A70B3132A61}"/>
              </a:ext>
            </a:extLst>
          </p:cNvPr>
          <p:cNvGrpSpPr/>
          <p:nvPr/>
        </p:nvGrpSpPr>
        <p:grpSpPr>
          <a:xfrm>
            <a:off x="365760" y="960120"/>
            <a:ext cx="8321040" cy="3529521"/>
            <a:chOff x="365760" y="960120"/>
            <a:chExt cx="8549640" cy="3886200"/>
          </a:xfrm>
        </p:grpSpPr>
        <p:sp>
          <p:nvSpPr>
            <p:cNvPr id="4" name="Shape 2"/>
            <p:cNvSpPr/>
            <p:nvPr/>
          </p:nvSpPr>
          <p:spPr>
            <a:xfrm>
              <a:off x="365760" y="960120"/>
              <a:ext cx="2788920" cy="3886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Shape 3"/>
            <p:cNvSpPr/>
            <p:nvPr/>
          </p:nvSpPr>
          <p:spPr>
            <a:xfrm>
              <a:off x="365760" y="960120"/>
              <a:ext cx="2788920" cy="347472"/>
            </a:xfrm>
            <a:prstGeom prst="rect">
              <a:avLst/>
            </a:prstGeom>
            <a:solidFill>
              <a:srgbClr val="E84855"/>
            </a:solidFill>
            <a:ln w="12700">
              <a:solidFill>
                <a:srgbClr val="E84855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475488" y="996696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1  ·  Quick Wins</a:t>
              </a:r>
              <a:endParaRPr lang="en-US" sz="1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75488" y="1371600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848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0–30 Days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75488" y="1691640"/>
              <a:ext cx="2606040" cy="150108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lnSpc>
                  <a:spcPct val="15000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 CS≥650 approval gate in risk engine</a:t>
              </a:r>
              <a:endParaRPr lang="en-US" sz="1200" dirty="0"/>
            </a:p>
            <a:p>
              <a:pPr marL="342900" indent="-342900">
                <a:lnSpc>
                  <a:spcPct val="15000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Launch WhatsApp OTP fallback</a:t>
              </a:r>
              <a:endParaRPr lang="en-US" sz="1200" dirty="0"/>
            </a:p>
            <a:p>
              <a:pPr marL="342900" indent="-342900">
                <a:lnSpc>
                  <a:spcPct val="15000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A/B test simplified KYC flow for Gen Z</a:t>
              </a:r>
              <a:endParaRPr lang="en-US" sz="12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46120" y="960120"/>
              <a:ext cx="2788920" cy="3886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3246120" y="960120"/>
              <a:ext cx="2788920" cy="347472"/>
            </a:xfrm>
            <a:prstGeom prst="rect">
              <a:avLst/>
            </a:prstGeom>
            <a:solidFill>
              <a:srgbClr val="F9A620"/>
            </a:solidFill>
            <a:ln w="12700">
              <a:solidFill>
                <a:srgbClr val="F9A620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3355848" y="996696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2  ·  Build</a:t>
              </a:r>
              <a:endParaRPr lang="en-US" sz="1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355848" y="1371600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9A6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1–3 Months</a:t>
              </a:r>
              <a:endParaRPr lang="en-US" sz="1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355848" y="1691640"/>
              <a:ext cx="2606040" cy="150108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lnSpc>
                  <a:spcPct val="15000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Referral cashback program launch</a:t>
              </a:r>
              <a:endParaRPr lang="en-US" sz="1200" dirty="0"/>
            </a:p>
            <a:p>
              <a:pPr marL="342900" indent="-342900">
                <a:lnSpc>
                  <a:spcPct val="15000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Tier2 Gen Z targeted campaign</a:t>
              </a:r>
              <a:endParaRPr lang="en-US" sz="1200" dirty="0"/>
            </a:p>
            <a:p>
              <a:pPr marL="342900" indent="-342900">
                <a:lnSpc>
                  <a:spcPct val="15000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Build early warning credit monitoring</a:t>
              </a:r>
              <a:endParaRPr lang="en-US" sz="12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126480" y="960120"/>
              <a:ext cx="2788920" cy="3886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5" name="Shape 13"/>
            <p:cNvSpPr/>
            <p:nvPr/>
          </p:nvSpPr>
          <p:spPr>
            <a:xfrm>
              <a:off x="6126480" y="960120"/>
              <a:ext cx="2788920" cy="347472"/>
            </a:xfrm>
            <a:prstGeom prst="rect">
              <a:avLst/>
            </a:prstGeom>
            <a:solidFill>
              <a:srgbClr val="02C39A"/>
            </a:solidFill>
            <a:ln w="12700">
              <a:solidFill>
                <a:srgbClr val="02C39A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236208" y="996696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3  ·  Scale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236208" y="1371600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2C3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3–6 Months</a:t>
              </a:r>
              <a:endParaRPr lang="en-US" sz="1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236208" y="1691640"/>
              <a:ext cx="2606040" cy="150108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lnSpc>
                  <a:spcPct val="15000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Full Gen Z UX redesign + dark mode</a:t>
              </a:r>
              <a:endParaRPr lang="en-US" sz="1200" dirty="0"/>
            </a:p>
            <a:p>
              <a:pPr marL="342900" indent="-342900">
                <a:lnSpc>
                  <a:spcPct val="15000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Ads budget reallocation to Referral</a:t>
              </a:r>
              <a:endParaRPr lang="en-US" sz="1200" dirty="0"/>
            </a:p>
            <a:p>
              <a:pPr marL="342900" indent="-342900">
                <a:lnSpc>
                  <a:spcPct val="15000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Quarterly tradeoff curve review</a:t>
              </a:r>
              <a:endParaRPr lang="en-US" sz="12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365760" y="4663439"/>
              <a:ext cx="8549640" cy="137161"/>
            </a:xfrm>
            <a:prstGeom prst="rect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1645920" y="4617720"/>
              <a:ext cx="182880" cy="182880"/>
            </a:xfrm>
            <a:prstGeom prst="ellipse">
              <a:avLst/>
            </a:prstGeom>
            <a:solidFill>
              <a:srgbClr val="E84855"/>
            </a:solidFill>
            <a:ln w="12700">
              <a:solidFill>
                <a:srgbClr val="E84855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4526280" y="4617720"/>
              <a:ext cx="182880" cy="182880"/>
            </a:xfrm>
            <a:prstGeom prst="ellipse">
              <a:avLst/>
            </a:prstGeom>
            <a:solidFill>
              <a:srgbClr val="F9A620"/>
            </a:solidFill>
            <a:ln w="12700">
              <a:solidFill>
                <a:srgbClr val="F9A620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7406640" y="4617720"/>
              <a:ext cx="182880" cy="182880"/>
            </a:xfrm>
            <a:prstGeom prst="ellipse">
              <a:avLst/>
            </a:prstGeom>
            <a:solidFill>
              <a:srgbClr val="02C39A"/>
            </a:solidFill>
            <a:ln w="12700">
              <a:solidFill>
                <a:srgbClr val="02C39A"/>
              </a:solidFill>
              <a:prstDash val="solid"/>
            </a:ln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Limitations — What This Analysis Doesn't Cover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65836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303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1574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— real-world distributions may differ significantly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40680" y="108813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Rerun analysis on 6-month live data before scaling recommendations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1325880"/>
            <a:ext cx="3931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440680" y="9784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709928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709928"/>
            <a:ext cx="64008" cy="65836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801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19072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RBI digital lending norms or IRDAI constraints modeled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183794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Legal review required before changing CS threshold in production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2075688"/>
            <a:ext cx="3931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40680" y="17282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459736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459736"/>
            <a:ext cx="64008" cy="65836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6299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26570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churn model built — lifetime value is understated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0680" y="25877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retention rate to net value calculation in Phase 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71600" y="2825496"/>
            <a:ext cx="3931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440680" y="24780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209544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209544"/>
            <a:ext cx="64008" cy="65836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3797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34068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is batch-only — no real-time signal modeled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0680" y="33375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Partner with fraud bureau APIs for real-time scoring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71600" y="3575304"/>
            <a:ext cx="3931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5440680" y="32278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959352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959352"/>
            <a:ext cx="64008" cy="65836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1295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371600" y="41566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credit cycle not incorporated (rate hikes, job market)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40680" y="40873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Quarterly threshold recalibration as credit conditions change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371600" y="4373294"/>
            <a:ext cx="3931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5440680" y="39776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rgbClr val="0D3461"/>
          </a:solidFill>
          <a:ln w="12700">
            <a:solidFill>
              <a:srgbClr val="0D34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Actions.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Thresholds.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5029200" cy="0"/>
          </a:xfrm>
          <a:prstGeom prst="line">
            <a:avLst/>
          </a:prstGeom>
          <a:noFill/>
          <a:ln w="19050">
            <a:solidFill>
              <a:srgbClr val="F9A6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4028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Fix Gen Z KYC/OTP friction → close the 20pp conversion gap</a:t>
            </a:r>
            <a:endParaRPr lang="en-US" sz="14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Set CS ≥ 650 as the approval gate → cut default rate by 7pp</a:t>
            </a:r>
            <a:endParaRPr lang="en-US" sz="14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Scale Referral; reduce Ads → double channel ROI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434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recommendations are backed by data. All thresholds are testable in 30 days.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A224E2-5E6C-1976-FEA7-C6DAEA697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FAD621-4D8F-F4BE-52AE-8EFFBC272F6E}"/>
              </a:ext>
            </a:extLst>
          </p:cNvPr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98249AB-8B58-0941-0F84-8EC5C4DFF568}"/>
              </a:ext>
            </a:extLst>
          </p:cNvPr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8830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1502</Words>
  <Application>Microsoft Office PowerPoint</Application>
  <PresentationFormat>On-screen Show (16:9)</PresentationFormat>
  <Paragraphs>300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Z Fintech Strategy — JPMorgan-Style Analytics</dc:title>
  <dc:subject>PptxGenJS Presentation</dc:subject>
  <dc:creator>PptxGenJS</dc:creator>
  <cp:lastModifiedBy>Neha Kanaki</cp:lastModifiedBy>
  <cp:revision>35</cp:revision>
  <dcterms:created xsi:type="dcterms:W3CDTF">2026-05-03T12:57:54Z</dcterms:created>
  <dcterms:modified xsi:type="dcterms:W3CDTF">2026-05-11T16:39:12Z</dcterms:modified>
</cp:coreProperties>
</file>